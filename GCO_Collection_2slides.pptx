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collect. Two kinds of numbers, both pulled as metrics. Infra metrics (heap, CPU, connections) - poll the Monitoring API like today. Business-transaction / SRE numbers (availability, errors, slow calls) - these are log-based metrics: GCO applies a filter to the logs and computes the count or ratio at the source, and we just read the resulting number. Crucially we do NOT collect raw logs and we do NOT need a sink - that whole pipeline is dropped. Everything writes to Mongo; dashboards and anomaly models read Mongo.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Splunk query maps over. Today: index + query (filter), stats/eval (aggregate), table by datacenter (break out), stored one row per BT per datacenter in Mongo. In GCO a log-based metric does the same three things: the metric's log filter equals our index+query; a counter handles total/errors and a distribution handles response time; labels (datacenter + BT name) are our table columns. We read those as time series and assemble the same Mongo document. Two dependencies: our status/response-time fields must be structured jsonPayload (a distribution can only read a real numeric field), and datacenter x BT name is our time-series cardinality against the 1M free tier. Failure % / custom availability we keep in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need, priority order. 1: per-job service account, read-only roles, keyless if possible. 2: define our log-based metrics - counters for total/errors/availability, distribution for response time, labelled datacenter + BT. Ask who owns creating them. 3: confirm our BT fields are structured jsonPayload, and get a rough datacenter x BT count to size against the free tier. 4: gRPC vs REST on our hosts, and who approves metric/quota requests and the SLA.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384048"/>
            <a:ext cx="10241280" cy="457200"/>
          </a:xfrm>
          <a:prstGeom prst="rect">
            <a:avLst/>
          </a:prstGeom>
          <a:noFill/>
          <a:ln/>
        </p:spPr>
        <p:txBody>
          <a:bodyPr wrap="square" lIns="0" tIns="0" rIns="0" bIns="0" rtlCol="0" anchor="ctr"/>
          <a:lstStyle/>
          <a:p>
            <a:pPr indent="0" marL="0">
              <a:buNone/>
            </a:pPr>
            <a:r>
              <a:rPr lang="en-US" sz="2600" b="1" dirty="0">
                <a:solidFill>
                  <a:srgbClr val="21295C"/>
                </a:solidFill>
                <a:latin typeface="Calibri" pitchFamily="34" charset="0"/>
                <a:ea typeface="Calibri" pitchFamily="34" charset="-122"/>
                <a:cs typeface="Calibri" pitchFamily="34" charset="-120"/>
              </a:rPr>
              <a:t>Moving observability collection to Google Cloud</a:t>
            </a:r>
            <a:endParaRPr lang="en-US" sz="2600" dirty="0"/>
          </a:p>
        </p:txBody>
      </p:sp>
      <p:sp>
        <p:nvSpPr>
          <p:cNvPr id="3" name="Text 1"/>
          <p:cNvSpPr/>
          <p:nvPr/>
        </p:nvSpPr>
        <p:spPr>
          <a:xfrm>
            <a:off x="548640" y="868680"/>
            <a:ext cx="8229600" cy="365760"/>
          </a:xfrm>
          <a:prstGeom prst="rect">
            <a:avLst/>
          </a:prstGeom>
          <a:noFill/>
          <a:ln/>
        </p:spPr>
        <p:txBody>
          <a:bodyPr wrap="square" lIns="0" tIns="0" rIns="0" bIns="0" rtlCol="0" anchor="ctr"/>
          <a:lstStyle/>
          <a:p>
            <a:pPr indent="0" marL="0">
              <a:buNone/>
            </a:pPr>
            <a:r>
              <a:rPr lang="en-US" sz="1600" i="1" dirty="0">
                <a:solidFill>
                  <a:srgbClr val="1C7293"/>
                </a:solidFill>
                <a:latin typeface="Calibri" pitchFamily="34" charset="0"/>
                <a:ea typeface="Calibri" pitchFamily="34" charset="-122"/>
                <a:cs typeface="Calibri" pitchFamily="34" charset="-120"/>
              </a:rPr>
              <a:t>What we collect — numbers, not raw logs</a:t>
            </a:r>
            <a:endParaRPr lang="en-US" sz="1600" dirty="0"/>
          </a:p>
        </p:txBody>
      </p:sp>
      <p:sp>
        <p:nvSpPr>
          <p:cNvPr id="4" name="Shape 2"/>
          <p:cNvSpPr/>
          <p:nvPr/>
        </p:nvSpPr>
        <p:spPr>
          <a:xfrm>
            <a:off x="10972800" y="457200"/>
            <a:ext cx="868680" cy="411480"/>
          </a:xfrm>
          <a:prstGeom prst="roundRect">
            <a:avLst>
              <a:gd name="adj" fmla="val 17778"/>
            </a:avLst>
          </a:prstGeom>
          <a:solidFill>
            <a:srgbClr val="21295C"/>
          </a:solidFill>
          <a:ln/>
        </p:spPr>
      </p:sp>
      <p:sp>
        <p:nvSpPr>
          <p:cNvPr id="5" name="Text 3"/>
          <p:cNvSpPr/>
          <p:nvPr/>
        </p:nvSpPr>
        <p:spPr>
          <a:xfrm>
            <a:off x="10972800" y="457200"/>
            <a:ext cx="8686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 / 3</a:t>
            </a:r>
            <a:endParaRPr lang="en-US" sz="1300" dirty="0"/>
          </a:p>
        </p:txBody>
      </p:sp>
      <p:sp>
        <p:nvSpPr>
          <p:cNvPr id="6" name="Shape 4"/>
          <p:cNvSpPr/>
          <p:nvPr/>
        </p:nvSpPr>
        <p:spPr>
          <a:xfrm>
            <a:off x="548640" y="1554480"/>
            <a:ext cx="5074920" cy="1737360"/>
          </a:xfrm>
          <a:prstGeom prst="roundRect">
            <a:avLst>
              <a:gd name="adj" fmla="val 4737"/>
            </a:avLst>
          </a:prstGeom>
          <a:solidFill>
            <a:srgbClr val="FFFFFF"/>
          </a:solidFill>
          <a:ln/>
          <a:effectLst>
            <a:outerShdw sx="100000" sy="100000" kx="0" ky="0" algn="bl" rotWithShape="0" blurRad="88900" dist="25400" dir="2700000">
              <a:srgbClr val="000000">
                <a:alpha val="12000"/>
              </a:srgbClr>
            </a:outerShdw>
          </a:effectLst>
        </p:spPr>
      </p:sp>
      <p:sp>
        <p:nvSpPr>
          <p:cNvPr id="7" name="Shape 5"/>
          <p:cNvSpPr/>
          <p:nvPr/>
        </p:nvSpPr>
        <p:spPr>
          <a:xfrm>
            <a:off x="777240" y="1783080"/>
            <a:ext cx="566928" cy="566928"/>
          </a:xfrm>
          <a:prstGeom prst="ellipse">
            <a:avLst/>
          </a:prstGeom>
          <a:solidFill>
            <a:srgbClr val="1C7293"/>
          </a:solidFill>
          <a:ln/>
        </p:spPr>
      </p:sp>
      <p:pic>
        <p:nvPicPr>
          <p:cNvPr id="8" name="Image 0" descr="preencoded.png">    </p:cNvPr>
          <p:cNvPicPr>
            <a:picLocks noChangeAspect="1"/>
          </p:cNvPicPr>
          <p:nvPr/>
        </p:nvPicPr>
        <p:blipFill>
          <a:blip r:embed="rId1"/>
          <a:stretch>
            <a:fillRect/>
          </a:stretch>
        </p:blipFill>
        <p:spPr>
          <a:xfrm>
            <a:off x="886968" y="1892808"/>
            <a:ext cx="347472" cy="347472"/>
          </a:xfrm>
          <a:prstGeom prst="rect">
            <a:avLst/>
          </a:prstGeom>
        </p:spPr>
      </p:pic>
      <p:sp>
        <p:nvSpPr>
          <p:cNvPr id="9" name="Text 6"/>
          <p:cNvSpPr/>
          <p:nvPr/>
        </p:nvSpPr>
        <p:spPr>
          <a:xfrm>
            <a:off x="1508760" y="1755648"/>
            <a:ext cx="3657600" cy="292608"/>
          </a:xfrm>
          <a:prstGeom prst="rect">
            <a:avLst/>
          </a:prstGeom>
          <a:noFill/>
          <a:ln/>
        </p:spPr>
        <p:txBody>
          <a:bodyPr wrap="square" lIns="0" tIns="0" rIns="0" bIns="0"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INFRA METRICS</a:t>
            </a:r>
            <a:endParaRPr lang="en-US" sz="1500" dirty="0"/>
          </a:p>
        </p:txBody>
      </p:sp>
      <p:sp>
        <p:nvSpPr>
          <p:cNvPr id="10" name="Text 7"/>
          <p:cNvSpPr/>
          <p:nvPr/>
        </p:nvSpPr>
        <p:spPr>
          <a:xfrm>
            <a:off x="1508760" y="2048256"/>
            <a:ext cx="3108960" cy="274320"/>
          </a:xfrm>
          <a:prstGeom prst="rect">
            <a:avLst/>
          </a:prstGeom>
          <a:noFill/>
          <a:ln/>
        </p:spPr>
        <p:txBody>
          <a:bodyPr wrap="square" lIns="0" tIns="0" rIns="0" bIns="0" rtlCol="0" anchor="ctr"/>
          <a:lstStyle/>
          <a:p>
            <a:pPr indent="0" marL="0">
              <a:buNone/>
            </a:pPr>
            <a:r>
              <a:rPr lang="en-US" sz="1200" i="1" dirty="0">
                <a:solidFill>
                  <a:srgbClr val="5B6B7B"/>
                </a:solidFill>
                <a:latin typeface="Calibri" pitchFamily="34" charset="0"/>
                <a:ea typeface="Calibri" pitchFamily="34" charset="-122"/>
                <a:cs typeface="Calibri" pitchFamily="34" charset="-120"/>
              </a:rPr>
              <a:t>replaces AppDynamics</a:t>
            </a:r>
            <a:endParaRPr lang="en-US" sz="1200" dirty="0"/>
          </a:p>
        </p:txBody>
      </p:sp>
      <p:sp>
        <p:nvSpPr>
          <p:cNvPr id="11" name="Text 8"/>
          <p:cNvSpPr/>
          <p:nvPr/>
        </p:nvSpPr>
        <p:spPr>
          <a:xfrm>
            <a:off x="868680" y="2450592"/>
            <a:ext cx="4617720" cy="27432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PULL</a:t>
            </a:r>
            <a:pPr indent="0" marL="0">
              <a:buNone/>
            </a:pPr>
            <a:r>
              <a:rPr lang="en-US" sz="1200" dirty="0">
                <a:solidFill>
                  <a:srgbClr val="1A1A2E"/>
                </a:solidFill>
                <a:latin typeface="Calibri" pitchFamily="34" charset="0"/>
                <a:ea typeface="Calibri" pitchFamily="34" charset="-122"/>
                <a:cs typeface="Calibri" pitchFamily="34" charset="-120"/>
              </a:rPr>
              <a:t>  Monitoring API (heap, CPU, connections)</a:t>
            </a:r>
            <a:endParaRPr lang="en-US" sz="1200" dirty="0"/>
          </a:p>
        </p:txBody>
      </p:sp>
      <p:sp>
        <p:nvSpPr>
          <p:cNvPr id="12" name="Text 9"/>
          <p:cNvSpPr/>
          <p:nvPr/>
        </p:nvSpPr>
        <p:spPr>
          <a:xfrm>
            <a:off x="868680" y="2724912"/>
            <a:ext cx="4617720" cy="457200"/>
          </a:xfrm>
          <a:prstGeom prst="rect">
            <a:avLst/>
          </a:prstGeom>
          <a:noFill/>
          <a:ln/>
        </p:spPr>
        <p:txBody>
          <a:bodyPr wrap="square" lIns="0" tIns="0" rIns="0" bIns="0" rtlCol="0" anchor="ctr"/>
          <a:lstStyle/>
          <a:p>
            <a:pPr indent="0" marL="0">
              <a:buNone/>
            </a:pPr>
            <a:r>
              <a:rPr lang="en-US" sz="1100" dirty="0">
                <a:solidFill>
                  <a:srgbClr val="5B6B7B"/>
                </a:solidFill>
                <a:latin typeface="Calibri" pitchFamily="34" charset="0"/>
                <a:ea typeface="Calibri" pitchFamily="34" charset="-122"/>
                <a:cs typeface="Calibri" pitchFamily="34" charset="-120"/>
              </a:rPr>
              <a:t>Poll the Monitoring API on a cron, like today. Size to stay inside the free tier.</a:t>
            </a:r>
            <a:endParaRPr lang="en-US" sz="1100" dirty="0"/>
          </a:p>
        </p:txBody>
      </p:sp>
      <p:sp>
        <p:nvSpPr>
          <p:cNvPr id="13" name="Shape 10"/>
          <p:cNvSpPr/>
          <p:nvPr/>
        </p:nvSpPr>
        <p:spPr>
          <a:xfrm>
            <a:off x="548640" y="3429000"/>
            <a:ext cx="5074920" cy="1874520"/>
          </a:xfrm>
          <a:prstGeom prst="roundRect">
            <a:avLst>
              <a:gd name="adj" fmla="val 4390"/>
            </a:avLst>
          </a:prstGeom>
          <a:solidFill>
            <a:srgbClr val="FFFFFF"/>
          </a:solidFill>
          <a:ln/>
          <a:effectLst>
            <a:outerShdw sx="100000" sy="100000" kx="0" ky="0" algn="bl" rotWithShape="0" blurRad="88900" dist="25400" dir="2700000">
              <a:srgbClr val="000000">
                <a:alpha val="12000"/>
              </a:srgbClr>
            </a:outerShdw>
          </a:effectLst>
        </p:spPr>
      </p:sp>
      <p:sp>
        <p:nvSpPr>
          <p:cNvPr id="14" name="Shape 11"/>
          <p:cNvSpPr/>
          <p:nvPr/>
        </p:nvSpPr>
        <p:spPr>
          <a:xfrm>
            <a:off x="777240" y="3657600"/>
            <a:ext cx="566928" cy="566928"/>
          </a:xfrm>
          <a:prstGeom prst="ellipse">
            <a:avLst/>
          </a:prstGeom>
          <a:solidFill>
            <a:srgbClr val="2E8B6F"/>
          </a:solidFill>
          <a:ln/>
        </p:spPr>
      </p:sp>
      <p:pic>
        <p:nvPicPr>
          <p:cNvPr id="15" name="Image 1" descr="preencoded.png">    </p:cNvPr>
          <p:cNvPicPr>
            <a:picLocks noChangeAspect="1"/>
          </p:cNvPicPr>
          <p:nvPr/>
        </p:nvPicPr>
        <p:blipFill>
          <a:blip r:embed="rId2"/>
          <a:stretch>
            <a:fillRect/>
          </a:stretch>
        </p:blipFill>
        <p:spPr>
          <a:xfrm>
            <a:off x="914400" y="3767328"/>
            <a:ext cx="292608" cy="347472"/>
          </a:xfrm>
          <a:prstGeom prst="rect">
            <a:avLst/>
          </a:prstGeom>
        </p:spPr>
      </p:pic>
      <p:sp>
        <p:nvSpPr>
          <p:cNvPr id="16" name="Text 12"/>
          <p:cNvSpPr/>
          <p:nvPr/>
        </p:nvSpPr>
        <p:spPr>
          <a:xfrm>
            <a:off x="1508760" y="3630168"/>
            <a:ext cx="4023360" cy="292608"/>
          </a:xfrm>
          <a:prstGeom prst="rect">
            <a:avLst/>
          </a:prstGeom>
          <a:noFill/>
          <a:ln/>
        </p:spPr>
        <p:txBody>
          <a:bodyPr wrap="square" lIns="0" tIns="0" rIns="0" bIns="0" rtlCol="0" anchor="ctr"/>
          <a:lstStyle/>
          <a:p>
            <a:pPr indent="0" marL="0">
              <a:buNone/>
            </a:pPr>
            <a:r>
              <a:rPr lang="en-US" sz="1450" b="1" dirty="0">
                <a:solidFill>
                  <a:srgbClr val="21295C"/>
                </a:solidFill>
                <a:latin typeface="Calibri" pitchFamily="34" charset="0"/>
                <a:ea typeface="Calibri" pitchFamily="34" charset="-122"/>
                <a:cs typeface="Calibri" pitchFamily="34" charset="-120"/>
              </a:rPr>
              <a:t>BUSINESS TXN / SRE NUMBERS</a:t>
            </a:r>
            <a:endParaRPr lang="en-US" sz="1450" dirty="0"/>
          </a:p>
        </p:txBody>
      </p:sp>
      <p:sp>
        <p:nvSpPr>
          <p:cNvPr id="17" name="Text 13"/>
          <p:cNvSpPr/>
          <p:nvPr/>
        </p:nvSpPr>
        <p:spPr>
          <a:xfrm>
            <a:off x="1508760" y="3922776"/>
            <a:ext cx="3474720" cy="274320"/>
          </a:xfrm>
          <a:prstGeom prst="rect">
            <a:avLst/>
          </a:prstGeom>
          <a:noFill/>
          <a:ln/>
        </p:spPr>
        <p:txBody>
          <a:bodyPr wrap="square" lIns="0" tIns="0" rIns="0" bIns="0" rtlCol="0" anchor="ctr"/>
          <a:lstStyle/>
          <a:p>
            <a:pPr indent="0" marL="0">
              <a:buNone/>
            </a:pPr>
            <a:r>
              <a:rPr lang="en-US" sz="1200" i="1" dirty="0">
                <a:solidFill>
                  <a:srgbClr val="5B6B7B"/>
                </a:solidFill>
                <a:latin typeface="Calibri" pitchFamily="34" charset="0"/>
                <a:ea typeface="Calibri" pitchFamily="34" charset="-122"/>
                <a:cs typeface="Calibri" pitchFamily="34" charset="-120"/>
              </a:rPr>
              <a:t>replaces Splunk stats queries</a:t>
            </a:r>
            <a:endParaRPr lang="en-US" sz="1200" dirty="0"/>
          </a:p>
        </p:txBody>
      </p:sp>
      <p:sp>
        <p:nvSpPr>
          <p:cNvPr id="18" name="Text 14"/>
          <p:cNvSpPr/>
          <p:nvPr/>
        </p:nvSpPr>
        <p:spPr>
          <a:xfrm>
            <a:off x="868680" y="4325112"/>
            <a:ext cx="4663440" cy="274320"/>
          </a:xfrm>
          <a:prstGeom prst="rect">
            <a:avLst/>
          </a:prstGeom>
          <a:noFill/>
          <a:ln/>
        </p:spPr>
        <p:txBody>
          <a:bodyPr wrap="square" lIns="0" tIns="0" rIns="0" bIns="0" rtlCol="0" anchor="ctr"/>
          <a:lstStyle/>
          <a:p>
            <a:pPr indent="0" marL="0">
              <a:buNone/>
            </a:pPr>
            <a:r>
              <a:rPr lang="en-US" sz="1150" b="1" dirty="0">
                <a:solidFill>
                  <a:srgbClr val="065A82"/>
                </a:solidFill>
                <a:latin typeface="Calibri" pitchFamily="34" charset="0"/>
                <a:ea typeface="Calibri" pitchFamily="34" charset="-122"/>
                <a:cs typeface="Calibri" pitchFamily="34" charset="-120"/>
              </a:rPr>
              <a:t>PULL</a:t>
            </a:r>
            <a:pPr indent="0" marL="0">
              <a:buNone/>
            </a:pPr>
            <a:r>
              <a:rPr lang="en-US" sz="1150" dirty="0">
                <a:solidFill>
                  <a:srgbClr val="1A1A2E"/>
                </a:solidFill>
                <a:latin typeface="Calibri" pitchFamily="34" charset="0"/>
                <a:ea typeface="Calibri" pitchFamily="34" charset="-122"/>
                <a:cs typeface="Calibri" pitchFamily="34" charset="-120"/>
              </a:rPr>
              <a:t>  log-based metrics (availability, errors, slow calls)</a:t>
            </a:r>
            <a:endParaRPr lang="en-US" sz="1150" dirty="0"/>
          </a:p>
        </p:txBody>
      </p:sp>
      <p:sp>
        <p:nvSpPr>
          <p:cNvPr id="19" name="Text 15"/>
          <p:cNvSpPr/>
          <p:nvPr/>
        </p:nvSpPr>
        <p:spPr>
          <a:xfrm>
            <a:off x="868680" y="4599432"/>
            <a:ext cx="4663440" cy="594360"/>
          </a:xfrm>
          <a:prstGeom prst="rect">
            <a:avLst/>
          </a:prstGeom>
          <a:noFill/>
          <a:ln/>
        </p:spPr>
        <p:txBody>
          <a:bodyPr wrap="square" lIns="0" tIns="0" rIns="0" bIns="0" rtlCol="0" anchor="ctr"/>
          <a:lstStyle/>
          <a:p>
            <a:pPr indent="0" marL="0">
              <a:buNone/>
            </a:pPr>
            <a:r>
              <a:rPr lang="en-US" sz="1100" dirty="0">
                <a:solidFill>
                  <a:srgbClr val="5B6B7B"/>
                </a:solidFill>
                <a:latin typeface="Calibri" pitchFamily="34" charset="0"/>
                <a:ea typeface="Calibri" pitchFamily="34" charset="-122"/>
                <a:cs typeface="Calibri" pitchFamily="34" charset="-120"/>
              </a:rPr>
              <a:t>GCO computes the counts/ratios from logs at the source. We read the numbers — never the raw logs.</a:t>
            </a:r>
            <a:endParaRPr lang="en-US" sz="1100" dirty="0"/>
          </a:p>
        </p:txBody>
      </p:sp>
      <p:sp>
        <p:nvSpPr>
          <p:cNvPr id="20" name="Text 16"/>
          <p:cNvSpPr/>
          <p:nvPr/>
        </p:nvSpPr>
        <p:spPr>
          <a:xfrm>
            <a:off x="6126480" y="1554480"/>
            <a:ext cx="5486400" cy="320040"/>
          </a:xfrm>
          <a:prstGeom prst="rect">
            <a:avLst/>
          </a:prstGeom>
          <a:noFill/>
          <a:ln/>
        </p:spPr>
        <p:txBody>
          <a:bodyPr wrap="square" lIns="0" tIns="0" rIns="0" bIns="0"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Everything is a metric pull → Mongo</a:t>
            </a:r>
            <a:endParaRPr lang="en-US" sz="1500" dirty="0"/>
          </a:p>
        </p:txBody>
      </p:sp>
      <p:sp>
        <p:nvSpPr>
          <p:cNvPr id="21" name="Shape 17"/>
          <p:cNvSpPr/>
          <p:nvPr/>
        </p:nvSpPr>
        <p:spPr>
          <a:xfrm>
            <a:off x="6126480" y="2057400"/>
            <a:ext cx="2514600" cy="822960"/>
          </a:xfrm>
          <a:prstGeom prst="roundRect">
            <a:avLst>
              <a:gd name="adj" fmla="val 8889"/>
            </a:avLst>
          </a:prstGeom>
          <a:solidFill>
            <a:srgbClr val="1C7293"/>
          </a:solidFill>
          <a:ln/>
        </p:spPr>
      </p:sp>
      <p:pic>
        <p:nvPicPr>
          <p:cNvPr id="22" name="Image 2" descr="preencoded.png">    </p:cNvPr>
          <p:cNvPicPr>
            <a:picLocks noChangeAspect="1"/>
          </p:cNvPicPr>
          <p:nvPr/>
        </p:nvPicPr>
        <p:blipFill>
          <a:blip r:embed="rId3"/>
          <a:stretch>
            <a:fillRect/>
          </a:stretch>
        </p:blipFill>
        <p:spPr>
          <a:xfrm>
            <a:off x="6309360" y="2286000"/>
            <a:ext cx="365760" cy="365760"/>
          </a:xfrm>
          <a:prstGeom prst="rect">
            <a:avLst/>
          </a:prstGeom>
        </p:spPr>
      </p:pic>
      <p:sp>
        <p:nvSpPr>
          <p:cNvPr id="23" name="Text 18"/>
          <p:cNvSpPr/>
          <p:nvPr/>
        </p:nvSpPr>
        <p:spPr>
          <a:xfrm>
            <a:off x="6748272" y="2057400"/>
            <a:ext cx="1828800" cy="82296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Monitoring API</a:t>
            </a:r>
            <a:endParaRPr lang="en-US" sz="1150" dirty="0"/>
          </a:p>
          <a:p>
            <a:pPr indent="0" marL="0">
              <a:buNone/>
            </a:pPr>
            <a:r>
              <a:rPr lang="en-US" sz="1150" b="1" dirty="0">
                <a:solidFill>
                  <a:srgbClr val="FFFFFF"/>
                </a:solidFill>
                <a:latin typeface="Calibri" pitchFamily="34" charset="0"/>
                <a:ea typeface="Calibri" pitchFamily="34" charset="-122"/>
                <a:cs typeface="Calibri" pitchFamily="34" charset="-120"/>
              </a:rPr>
              <a:t>(infra metrics)</a:t>
            </a:r>
            <a:endParaRPr lang="en-US" sz="1150" dirty="0"/>
          </a:p>
        </p:txBody>
      </p:sp>
      <p:sp>
        <p:nvSpPr>
          <p:cNvPr id="24" name="Shape 19"/>
          <p:cNvSpPr/>
          <p:nvPr/>
        </p:nvSpPr>
        <p:spPr>
          <a:xfrm>
            <a:off x="6126480" y="3063240"/>
            <a:ext cx="2514600" cy="822960"/>
          </a:xfrm>
          <a:prstGeom prst="roundRect">
            <a:avLst>
              <a:gd name="adj" fmla="val 8889"/>
            </a:avLst>
          </a:prstGeom>
          <a:solidFill>
            <a:srgbClr val="2E8B6F"/>
          </a:solidFill>
          <a:ln/>
        </p:spPr>
      </p:sp>
      <p:pic>
        <p:nvPicPr>
          <p:cNvPr id="25" name="Image 3" descr="preencoded.png">    </p:cNvPr>
          <p:cNvPicPr>
            <a:picLocks noChangeAspect="1"/>
          </p:cNvPicPr>
          <p:nvPr/>
        </p:nvPicPr>
        <p:blipFill>
          <a:blip r:embed="rId4"/>
          <a:stretch>
            <a:fillRect/>
          </a:stretch>
        </p:blipFill>
        <p:spPr>
          <a:xfrm>
            <a:off x="6345936" y="3291840"/>
            <a:ext cx="292608" cy="365760"/>
          </a:xfrm>
          <a:prstGeom prst="rect">
            <a:avLst/>
          </a:prstGeom>
        </p:spPr>
      </p:pic>
      <p:sp>
        <p:nvSpPr>
          <p:cNvPr id="26" name="Text 20"/>
          <p:cNvSpPr/>
          <p:nvPr/>
        </p:nvSpPr>
        <p:spPr>
          <a:xfrm>
            <a:off x="6748272" y="3063240"/>
            <a:ext cx="1828800" cy="82296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Log-based metrics</a:t>
            </a:r>
            <a:endParaRPr lang="en-US" sz="1150" dirty="0"/>
          </a:p>
          <a:p>
            <a:pPr indent="0" marL="0">
              <a:buNone/>
            </a:pPr>
            <a:r>
              <a:rPr lang="en-US" sz="1150" b="1" dirty="0">
                <a:solidFill>
                  <a:srgbClr val="FFFFFF"/>
                </a:solidFill>
                <a:latin typeface="Calibri" pitchFamily="34" charset="0"/>
                <a:ea typeface="Calibri" pitchFamily="34" charset="-122"/>
                <a:cs typeface="Calibri" pitchFamily="34" charset="-120"/>
              </a:rPr>
              <a:t>(business txn)</a:t>
            </a:r>
            <a:endParaRPr lang="en-US" sz="1150" dirty="0"/>
          </a:p>
        </p:txBody>
      </p:sp>
      <p:sp>
        <p:nvSpPr>
          <p:cNvPr id="27" name="Shape 21"/>
          <p:cNvSpPr/>
          <p:nvPr/>
        </p:nvSpPr>
        <p:spPr>
          <a:xfrm>
            <a:off x="8641080" y="2468880"/>
            <a:ext cx="777240" cy="502920"/>
          </a:xfrm>
          <a:prstGeom prst="line">
            <a:avLst/>
          </a:prstGeom>
          <a:noFill/>
          <a:ln w="22225">
            <a:solidFill>
              <a:srgbClr val="5B6B7B"/>
            </a:solidFill>
            <a:prstDash val="solid"/>
            <a:tailEnd type="triangle"/>
          </a:ln>
        </p:spPr>
      </p:sp>
      <p:sp>
        <p:nvSpPr>
          <p:cNvPr id="28" name="Shape 22"/>
          <p:cNvSpPr/>
          <p:nvPr/>
        </p:nvSpPr>
        <p:spPr>
          <a:xfrm>
            <a:off x="8641080" y="3474720"/>
            <a:ext cx="777240" cy="-502920"/>
          </a:xfrm>
          <a:prstGeom prst="line">
            <a:avLst/>
          </a:prstGeom>
          <a:noFill/>
          <a:ln w="22225">
            <a:solidFill>
              <a:srgbClr val="5B6B7B"/>
            </a:solidFill>
            <a:prstDash val="solid"/>
            <a:tailEnd type="triangle"/>
          </a:ln>
        </p:spPr>
      </p:sp>
      <p:sp>
        <p:nvSpPr>
          <p:cNvPr id="29" name="Shape 23"/>
          <p:cNvSpPr/>
          <p:nvPr/>
        </p:nvSpPr>
        <p:spPr>
          <a:xfrm>
            <a:off x="9418320" y="2377440"/>
            <a:ext cx="1463040" cy="960120"/>
          </a:xfrm>
          <a:prstGeom prst="roundRect">
            <a:avLst>
              <a:gd name="adj" fmla="val 7619"/>
            </a:avLst>
          </a:prstGeom>
          <a:solidFill>
            <a:srgbClr val="21295C"/>
          </a:solidFill>
          <a:ln/>
        </p:spPr>
      </p:sp>
      <p:sp>
        <p:nvSpPr>
          <p:cNvPr id="30" name="Text 24"/>
          <p:cNvSpPr/>
          <p:nvPr/>
        </p:nvSpPr>
        <p:spPr>
          <a:xfrm>
            <a:off x="9418320" y="2377440"/>
            <a:ext cx="146304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Python</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collectors</a:t>
            </a:r>
            <a:endParaRPr lang="en-US" sz="1250" dirty="0"/>
          </a:p>
        </p:txBody>
      </p:sp>
      <p:sp>
        <p:nvSpPr>
          <p:cNvPr id="31" name="Shape 25"/>
          <p:cNvSpPr/>
          <p:nvPr/>
        </p:nvSpPr>
        <p:spPr>
          <a:xfrm>
            <a:off x="9326880" y="3520440"/>
            <a:ext cx="0" cy="457200"/>
          </a:xfrm>
          <a:prstGeom prst="line">
            <a:avLst/>
          </a:prstGeom>
          <a:noFill/>
          <a:ln w="22225">
            <a:solidFill>
              <a:srgbClr val="5B6B7B"/>
            </a:solidFill>
            <a:prstDash val="solid"/>
            <a:tailEnd type="triangle"/>
          </a:ln>
        </p:spPr>
      </p:sp>
      <p:sp>
        <p:nvSpPr>
          <p:cNvPr id="32" name="Shape 26"/>
          <p:cNvSpPr/>
          <p:nvPr/>
        </p:nvSpPr>
        <p:spPr>
          <a:xfrm>
            <a:off x="7955280" y="4023360"/>
            <a:ext cx="2788920" cy="822960"/>
          </a:xfrm>
          <a:prstGeom prst="roundRect">
            <a:avLst>
              <a:gd name="adj" fmla="val 8889"/>
            </a:avLst>
          </a:prstGeom>
          <a:solidFill>
            <a:srgbClr val="2E8B6F"/>
          </a:solidFill>
          <a:ln/>
          <a:effectLst>
            <a:outerShdw sx="100000" sy="100000" kx="0" ky="0" algn="bl" rotWithShape="0" blurRad="88900" dist="25400" dir="2700000">
              <a:srgbClr val="000000">
                <a:alpha val="12000"/>
              </a:srgbClr>
            </a:outerShdw>
          </a:effectLst>
        </p:spPr>
      </p:sp>
      <p:pic>
        <p:nvPicPr>
          <p:cNvPr id="33" name="Image 4" descr="preencoded.png">    </p:cNvPr>
          <p:cNvPicPr>
            <a:picLocks noChangeAspect="1"/>
          </p:cNvPicPr>
          <p:nvPr/>
        </p:nvPicPr>
        <p:blipFill>
          <a:blip r:embed="rId5"/>
          <a:stretch>
            <a:fillRect/>
          </a:stretch>
        </p:blipFill>
        <p:spPr>
          <a:xfrm>
            <a:off x="8183880" y="4224528"/>
            <a:ext cx="411480" cy="411480"/>
          </a:xfrm>
          <a:prstGeom prst="rect">
            <a:avLst/>
          </a:prstGeom>
        </p:spPr>
      </p:pic>
      <p:sp>
        <p:nvSpPr>
          <p:cNvPr id="34" name="Text 27"/>
          <p:cNvSpPr/>
          <p:nvPr/>
        </p:nvSpPr>
        <p:spPr>
          <a:xfrm>
            <a:off x="8686800" y="4023360"/>
            <a:ext cx="2011680" cy="8229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MongoDB</a:t>
            </a:r>
            <a:endParaRPr lang="en-US" sz="1400" dirty="0"/>
          </a:p>
        </p:txBody>
      </p:sp>
      <p:sp>
        <p:nvSpPr>
          <p:cNvPr id="35" name="Text 28"/>
          <p:cNvSpPr/>
          <p:nvPr/>
        </p:nvSpPr>
        <p:spPr>
          <a:xfrm>
            <a:off x="6126480" y="4937760"/>
            <a:ext cx="5486400" cy="274320"/>
          </a:xfrm>
          <a:prstGeom prst="rect">
            <a:avLst/>
          </a:prstGeom>
          <a:noFill/>
          <a:ln/>
        </p:spPr>
        <p:txBody>
          <a:bodyPr wrap="square" lIns="0" tIns="0" rIns="0" bIns="0" rtlCol="0" anchor="ctr"/>
          <a:lstStyle/>
          <a:p>
            <a:pPr indent="0" marL="0">
              <a:buNone/>
            </a:pPr>
            <a:r>
              <a:rPr lang="en-US" sz="1100" i="1" dirty="0">
                <a:solidFill>
                  <a:srgbClr val="5B6B7B"/>
                </a:solidFill>
                <a:latin typeface="Calibri" pitchFamily="34" charset="0"/>
                <a:ea typeface="Calibri" pitchFamily="34" charset="-122"/>
                <a:cs typeface="Calibri" pitchFamily="34" charset="-120"/>
              </a:rPr>
              <a:t>→  dashboards &amp; anomaly models read Mongo, not GCP</a:t>
            </a:r>
            <a:endParaRPr lang="en-US" sz="1100" dirty="0"/>
          </a:p>
        </p:txBody>
      </p:sp>
      <p:sp>
        <p:nvSpPr>
          <p:cNvPr id="36" name="Shape 29"/>
          <p:cNvSpPr/>
          <p:nvPr/>
        </p:nvSpPr>
        <p:spPr>
          <a:xfrm>
            <a:off x="548640" y="5806440"/>
            <a:ext cx="11292840" cy="713232"/>
          </a:xfrm>
          <a:prstGeom prst="roundRect">
            <a:avLst>
              <a:gd name="adj" fmla="val 10256"/>
            </a:avLst>
          </a:prstGeom>
          <a:solidFill>
            <a:srgbClr val="E9F1F6"/>
          </a:solidFill>
          <a:ln/>
        </p:spPr>
      </p:sp>
      <p:pic>
        <p:nvPicPr>
          <p:cNvPr id="37" name="Image 5" descr="preencoded.png">    </p:cNvPr>
          <p:cNvPicPr>
            <a:picLocks noChangeAspect="1"/>
          </p:cNvPicPr>
          <p:nvPr/>
        </p:nvPicPr>
        <p:blipFill>
          <a:blip r:embed="rId6"/>
          <a:stretch>
            <a:fillRect/>
          </a:stretch>
        </p:blipFill>
        <p:spPr>
          <a:xfrm>
            <a:off x="777240" y="5989320"/>
            <a:ext cx="365760" cy="365760"/>
          </a:xfrm>
          <a:prstGeom prst="rect">
            <a:avLst/>
          </a:prstGeom>
        </p:spPr>
      </p:pic>
      <p:sp>
        <p:nvSpPr>
          <p:cNvPr id="38" name="Text 30"/>
          <p:cNvSpPr/>
          <p:nvPr/>
        </p:nvSpPr>
        <p:spPr>
          <a:xfrm>
            <a:off x="1280160" y="5806440"/>
            <a:ext cx="10424160" cy="713232"/>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No raw logs, no sink. </a:t>
            </a:r>
            <a:pPr indent="0" marL="0">
              <a:buNone/>
            </a:pPr>
            <a:r>
              <a:rPr lang="en-US" sz="1300" dirty="0">
                <a:solidFill>
                  <a:srgbClr val="1A1A2E"/>
                </a:solidFill>
                <a:latin typeface="Calibri" pitchFamily="34" charset="0"/>
                <a:ea typeface="Calibri" pitchFamily="34" charset="-122"/>
                <a:cs typeface="Calibri" pitchFamily="34" charset="-120"/>
              </a:rPr>
              <a:t>We only need numbers, so GCO computes them from logs and we pull them as metrics — </a:t>
            </a:r>
            <a:pPr indent="0" marL="0">
              <a:buNone/>
            </a:pPr>
            <a:r>
              <a:rPr lang="en-US" sz="1300" b="1" dirty="0">
                <a:solidFill>
                  <a:srgbClr val="21295C"/>
                </a:solidFill>
                <a:latin typeface="Calibri" pitchFamily="34" charset="0"/>
                <a:ea typeface="Calibri" pitchFamily="34" charset="-122"/>
                <a:cs typeface="Calibri" pitchFamily="34" charset="-120"/>
              </a:rPr>
              <a:t>simpler &amp; cheaper than shipping raw logs.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48640" y="384048"/>
            <a:ext cx="10241280" cy="457200"/>
          </a:xfrm>
          <a:prstGeom prst="rect">
            <a:avLst/>
          </a:prstGeom>
          <a:noFill/>
          <a:ln/>
        </p:spPr>
        <p:txBody>
          <a:bodyPr wrap="square" lIns="0" tIns="0" rIns="0" bIns="0" rtlCol="0" anchor="ctr"/>
          <a:lstStyle/>
          <a:p>
            <a:pPr indent="0" marL="0">
              <a:buNone/>
            </a:pPr>
            <a:r>
              <a:rPr lang="en-US" sz="2500" b="1" dirty="0">
                <a:solidFill>
                  <a:srgbClr val="21295C"/>
                </a:solidFill>
                <a:latin typeface="Calibri" pitchFamily="34" charset="0"/>
                <a:ea typeface="Calibri" pitchFamily="34" charset="-122"/>
                <a:cs typeface="Calibri" pitchFamily="34" charset="-120"/>
              </a:rPr>
              <a:t>How our Splunk query becomes a log-based metric</a:t>
            </a:r>
            <a:endParaRPr lang="en-US" sz="2500" dirty="0"/>
          </a:p>
        </p:txBody>
      </p:sp>
      <p:sp>
        <p:nvSpPr>
          <p:cNvPr id="3" name="Text 1"/>
          <p:cNvSpPr/>
          <p:nvPr/>
        </p:nvSpPr>
        <p:spPr>
          <a:xfrm>
            <a:off x="548640" y="868680"/>
            <a:ext cx="9144000" cy="365760"/>
          </a:xfrm>
          <a:prstGeom prst="rect">
            <a:avLst/>
          </a:prstGeom>
          <a:noFill/>
          <a:ln/>
        </p:spPr>
        <p:txBody>
          <a:bodyPr wrap="square" lIns="0" tIns="0" rIns="0" bIns="0" rtlCol="0" anchor="ctr"/>
          <a:lstStyle/>
          <a:p>
            <a:pPr indent="0" marL="0">
              <a:buNone/>
            </a:pPr>
            <a:r>
              <a:rPr lang="en-US" sz="1500" i="1" dirty="0">
                <a:solidFill>
                  <a:srgbClr val="1C7293"/>
                </a:solidFill>
                <a:latin typeface="Calibri" pitchFamily="34" charset="0"/>
                <a:ea typeface="Calibri" pitchFamily="34" charset="-122"/>
                <a:cs typeface="Calibri" pitchFamily="34" charset="-120"/>
              </a:rPr>
              <a:t>Same three steps — filter, aggregate, break out by datacenter</a:t>
            </a:r>
            <a:endParaRPr lang="en-US" sz="1500" dirty="0"/>
          </a:p>
        </p:txBody>
      </p:sp>
      <p:sp>
        <p:nvSpPr>
          <p:cNvPr id="4" name="Shape 2"/>
          <p:cNvSpPr/>
          <p:nvPr/>
        </p:nvSpPr>
        <p:spPr>
          <a:xfrm>
            <a:off x="10972800" y="457200"/>
            <a:ext cx="868680" cy="411480"/>
          </a:xfrm>
          <a:prstGeom prst="roundRect">
            <a:avLst>
              <a:gd name="adj" fmla="val 17778"/>
            </a:avLst>
          </a:prstGeom>
          <a:solidFill>
            <a:srgbClr val="21295C"/>
          </a:solidFill>
          <a:ln/>
        </p:spPr>
      </p:sp>
      <p:sp>
        <p:nvSpPr>
          <p:cNvPr id="5" name="Text 3"/>
          <p:cNvSpPr/>
          <p:nvPr/>
        </p:nvSpPr>
        <p:spPr>
          <a:xfrm>
            <a:off x="10972800" y="457200"/>
            <a:ext cx="8686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 / 3</a:t>
            </a:r>
            <a:endParaRPr lang="en-US" sz="1300" dirty="0"/>
          </a:p>
        </p:txBody>
      </p:sp>
      <p:sp>
        <p:nvSpPr>
          <p:cNvPr id="6" name="Shape 4"/>
          <p:cNvSpPr/>
          <p:nvPr/>
        </p:nvSpPr>
        <p:spPr>
          <a:xfrm>
            <a:off x="548640" y="1508760"/>
            <a:ext cx="5349240" cy="2788920"/>
          </a:xfrm>
          <a:prstGeom prst="roundRect">
            <a:avLst>
              <a:gd name="adj" fmla="val 2951"/>
            </a:avLst>
          </a:prstGeom>
          <a:solidFill>
            <a:srgbClr val="FFFFFF"/>
          </a:solidFill>
          <a:ln/>
          <a:effectLst>
            <a:outerShdw sx="100000" sy="100000" kx="0" ky="0" algn="bl" rotWithShape="0" blurRad="88900" dist="25400" dir="2700000">
              <a:srgbClr val="000000">
                <a:alpha val="12000"/>
              </a:srgbClr>
            </a:outerShdw>
          </a:effectLst>
        </p:spPr>
      </p:sp>
      <p:sp>
        <p:nvSpPr>
          <p:cNvPr id="7" name="Text 5"/>
          <p:cNvSpPr/>
          <p:nvPr/>
        </p:nvSpPr>
        <p:spPr>
          <a:xfrm>
            <a:off x="777240" y="1691640"/>
            <a:ext cx="4572000" cy="320040"/>
          </a:xfrm>
          <a:prstGeom prst="rect">
            <a:avLst/>
          </a:prstGeom>
          <a:noFill/>
          <a:ln/>
        </p:spPr>
        <p:txBody>
          <a:bodyPr wrap="square" lIns="0" tIns="0" rIns="0" bIns="0" rtlCol="0" anchor="ctr"/>
          <a:lstStyle/>
          <a:p>
            <a:pPr indent="0" marL="0">
              <a:buNone/>
            </a:pPr>
            <a:r>
              <a:rPr lang="en-US" sz="1400" b="1" dirty="0">
                <a:solidFill>
                  <a:srgbClr val="5B6B7B"/>
                </a:solidFill>
                <a:latin typeface="Calibri" pitchFamily="34" charset="0"/>
                <a:ea typeface="Calibri" pitchFamily="34" charset="-122"/>
                <a:cs typeface="Calibri" pitchFamily="34" charset="-120"/>
              </a:rPr>
              <a:t>TODAY — Splunk</a:t>
            </a:r>
            <a:endParaRPr lang="en-US" sz="1400" dirty="0"/>
          </a:p>
        </p:txBody>
      </p:sp>
      <p:sp>
        <p:nvSpPr>
          <p:cNvPr id="8" name="Text 6"/>
          <p:cNvSpPr/>
          <p:nvPr/>
        </p:nvSpPr>
        <p:spPr>
          <a:xfrm>
            <a:off x="777240" y="2057400"/>
            <a:ext cx="4892040" cy="1371600"/>
          </a:xfrm>
          <a:prstGeom prst="rect">
            <a:avLst/>
          </a:prstGeom>
          <a:noFill/>
          <a:ln/>
        </p:spPr>
        <p:txBody>
          <a:bodyPr wrap="square" lIns="0" tIns="0" rIns="0" bIns="0" rtlCol="0" anchor="ctr"/>
          <a:lstStyle/>
          <a:p>
            <a:pPr indent="0" marL="0">
              <a:lnSpc>
                <a:spcPct val="110000"/>
              </a:lnSpc>
              <a:buNone/>
            </a:pPr>
            <a:r>
              <a:rPr lang="en-US" sz="1250" dirty="0">
                <a:solidFill>
                  <a:srgbClr val="33414F"/>
                </a:solidFill>
                <a:latin typeface="Courier New" pitchFamily="34" charset="0"/>
                <a:ea typeface="Courier New" pitchFamily="34" charset="-122"/>
                <a:cs typeface="Courier New" pitchFamily="34" charset="-120"/>
              </a:rPr>
              <a:t>index=bt query </a:t>
            </a:r>
            <a:endParaRPr lang="en-US" sz="1250" dirty="0"/>
          </a:p>
          <a:p>
            <a:pPr indent="0" marL="0">
              <a:lnSpc>
                <a:spcPct val="110000"/>
              </a:lnSpc>
              <a:buNone/>
            </a:pPr>
            <a:r>
              <a:rPr lang="en-US" sz="1250" dirty="0">
                <a:solidFill>
                  <a:srgbClr val="33414F"/>
                </a:solidFill>
                <a:latin typeface="Courier New" pitchFamily="34" charset="0"/>
                <a:ea typeface="Courier New" pitchFamily="34" charset="-122"/>
                <a:cs typeface="Courier New" pitchFamily="34" charset="-120"/>
              </a:rPr>
              <a:t>| stats sum(total) sum(errors)</a:t>
            </a:r>
            <a:endParaRPr lang="en-US" sz="1250" dirty="0"/>
          </a:p>
          <a:p>
            <a:pPr indent="0" marL="0">
              <a:lnSpc>
                <a:spcPct val="110000"/>
              </a:lnSpc>
              <a:buNone/>
            </a:pPr>
            <a:r>
              <a:rPr lang="en-US" sz="1250" dirty="0">
                <a:solidFill>
                  <a:srgbClr val="33414F"/>
                </a:solidFill>
                <a:latin typeface="Courier New" pitchFamily="34" charset="0"/>
                <a:ea typeface="Courier New" pitchFamily="34" charset="-122"/>
                <a:cs typeface="Courier New" pitchFamily="34" charset="-120"/>
              </a:rPr>
              <a:t>| eval failure_pct = ...</a:t>
            </a:r>
            <a:endParaRPr lang="en-US" sz="1250" dirty="0"/>
          </a:p>
          <a:p>
            <a:pPr indent="0" marL="0">
              <a:lnSpc>
                <a:spcPct val="110000"/>
              </a:lnSpc>
              <a:buNone/>
            </a:pPr>
            <a:r>
              <a:rPr lang="en-US" sz="1250" dirty="0">
                <a:solidFill>
                  <a:srgbClr val="33414F"/>
                </a:solidFill>
                <a:latin typeface="Courier New" pitchFamily="34" charset="0"/>
                <a:ea typeface="Courier New" pitchFamily="34" charset="-122"/>
                <a:cs typeface="Courier New" pitchFamily="34" charset="-120"/>
              </a:rPr>
              <a:t>| table datacenter, total,</a:t>
            </a:r>
            <a:endParaRPr lang="en-US" sz="1250" dirty="0"/>
          </a:p>
          <a:p>
            <a:pPr indent="0" marL="0">
              <a:lnSpc>
                <a:spcPct val="110000"/>
              </a:lnSpc>
              <a:buNone/>
            </a:pPr>
            <a:r>
              <a:rPr lang="en-US" sz="1250" dirty="0">
                <a:solidFill>
                  <a:srgbClr val="33414F"/>
                </a:solidFill>
                <a:latin typeface="Courier New" pitchFamily="34" charset="0"/>
                <a:ea typeface="Courier New" pitchFamily="34" charset="-122"/>
                <a:cs typeface="Courier New" pitchFamily="34" charset="-120"/>
              </a:rPr>
              <a:t>        success, errors, avg_resp</a:t>
            </a:r>
            <a:endParaRPr lang="en-US" sz="1250" dirty="0"/>
          </a:p>
        </p:txBody>
      </p:sp>
      <p:sp>
        <p:nvSpPr>
          <p:cNvPr id="9" name="Text 7"/>
          <p:cNvSpPr/>
          <p:nvPr/>
        </p:nvSpPr>
        <p:spPr>
          <a:xfrm>
            <a:off x="777240" y="3611880"/>
            <a:ext cx="4937760" cy="548640"/>
          </a:xfrm>
          <a:prstGeom prst="rect">
            <a:avLst/>
          </a:prstGeom>
          <a:noFill/>
          <a:ln/>
        </p:spPr>
        <p:txBody>
          <a:bodyPr wrap="square" lIns="0" tIns="0" rIns="0" bIns="0" rtlCol="0" anchor="ctr"/>
          <a:lstStyle/>
          <a:p>
            <a:pPr indent="0" marL="0">
              <a:buNone/>
            </a:pPr>
            <a:r>
              <a:rPr lang="en-US" sz="1200" i="1" dirty="0">
                <a:solidFill>
                  <a:srgbClr val="5B6B7B"/>
                </a:solidFill>
                <a:latin typeface="Calibri" pitchFamily="34" charset="0"/>
                <a:ea typeface="Calibri" pitchFamily="34" charset="-122"/>
                <a:cs typeface="Calibri" pitchFamily="34" charset="-120"/>
              </a:rPr>
              <a:t>→ store one row per BT, per datacenter in Mongo</a:t>
            </a:r>
            <a:endParaRPr lang="en-US" sz="1200" dirty="0"/>
          </a:p>
        </p:txBody>
      </p:sp>
      <p:sp>
        <p:nvSpPr>
          <p:cNvPr id="10" name="Shape 8"/>
          <p:cNvSpPr/>
          <p:nvPr/>
        </p:nvSpPr>
        <p:spPr>
          <a:xfrm>
            <a:off x="5989320" y="2880360"/>
            <a:ext cx="502920" cy="0"/>
          </a:xfrm>
          <a:prstGeom prst="line">
            <a:avLst/>
          </a:prstGeom>
          <a:noFill/>
          <a:ln w="31750">
            <a:solidFill>
              <a:srgbClr val="21295C"/>
            </a:solidFill>
            <a:prstDash val="solid"/>
            <a:tailEnd type="triangle"/>
          </a:ln>
        </p:spPr>
      </p:sp>
      <p:sp>
        <p:nvSpPr>
          <p:cNvPr id="11" name="Shape 9"/>
          <p:cNvSpPr/>
          <p:nvPr/>
        </p:nvSpPr>
        <p:spPr>
          <a:xfrm>
            <a:off x="6583680" y="1508760"/>
            <a:ext cx="5257800" cy="2788920"/>
          </a:xfrm>
          <a:prstGeom prst="roundRect">
            <a:avLst>
              <a:gd name="adj" fmla="val 2951"/>
            </a:avLst>
          </a:prstGeom>
          <a:solidFill>
            <a:srgbClr val="21295C"/>
          </a:solidFill>
          <a:ln/>
          <a:effectLst>
            <a:outerShdw sx="100000" sy="100000" kx="0" ky="0" algn="bl" rotWithShape="0" blurRad="88900" dist="25400" dir="2700000">
              <a:srgbClr val="000000">
                <a:alpha val="12000"/>
              </a:srgbClr>
            </a:outerShdw>
          </a:effectLst>
        </p:spPr>
      </p:sp>
      <p:sp>
        <p:nvSpPr>
          <p:cNvPr id="12" name="Text 10"/>
          <p:cNvSpPr/>
          <p:nvPr/>
        </p:nvSpPr>
        <p:spPr>
          <a:xfrm>
            <a:off x="6812280" y="1691640"/>
            <a:ext cx="4572000" cy="320040"/>
          </a:xfrm>
          <a:prstGeom prst="rect">
            <a:avLst/>
          </a:prstGeom>
          <a:noFill/>
          <a:ln/>
        </p:spPr>
        <p:txBody>
          <a:bodyPr wrap="square" lIns="0" tIns="0" rIns="0" bIns="0" rtlCol="0" anchor="ctr"/>
          <a:lstStyle/>
          <a:p>
            <a:pPr indent="0" marL="0">
              <a:buNone/>
            </a:pPr>
            <a:r>
              <a:rPr lang="en-US" sz="1400" b="1" dirty="0">
                <a:solidFill>
                  <a:srgbClr val="ABC4D6"/>
                </a:solidFill>
                <a:latin typeface="Calibri" pitchFamily="34" charset="0"/>
                <a:ea typeface="Calibri" pitchFamily="34" charset="-122"/>
                <a:cs typeface="Calibri" pitchFamily="34" charset="-120"/>
              </a:rPr>
              <a:t>IN GCO — log-based metric</a:t>
            </a:r>
            <a:endParaRPr lang="en-US" sz="1400" dirty="0"/>
          </a:p>
        </p:txBody>
      </p:sp>
      <p:sp>
        <p:nvSpPr>
          <p:cNvPr id="13" name="Shape 11"/>
          <p:cNvSpPr/>
          <p:nvPr/>
        </p:nvSpPr>
        <p:spPr>
          <a:xfrm>
            <a:off x="6858000" y="2194560"/>
            <a:ext cx="457200" cy="457200"/>
          </a:xfrm>
          <a:prstGeom prst="ellipse">
            <a:avLst/>
          </a:prstGeom>
          <a:solidFill>
            <a:srgbClr val="1C7293"/>
          </a:solidFill>
          <a:ln/>
        </p:spPr>
      </p:sp>
      <p:pic>
        <p:nvPicPr>
          <p:cNvPr id="14" name="Image 0" descr="preencoded.png">    </p:cNvPr>
          <p:cNvPicPr>
            <a:picLocks noChangeAspect="1"/>
          </p:cNvPicPr>
          <p:nvPr/>
        </p:nvPicPr>
        <p:blipFill>
          <a:blip r:embed="rId1"/>
          <a:stretch>
            <a:fillRect/>
          </a:stretch>
        </p:blipFill>
        <p:spPr>
          <a:xfrm>
            <a:off x="6967728" y="2304288"/>
            <a:ext cx="237744" cy="237744"/>
          </a:xfrm>
          <a:prstGeom prst="rect">
            <a:avLst/>
          </a:prstGeom>
        </p:spPr>
      </p:pic>
      <p:sp>
        <p:nvSpPr>
          <p:cNvPr id="15" name="Text 12"/>
          <p:cNvSpPr/>
          <p:nvPr/>
        </p:nvSpPr>
        <p:spPr>
          <a:xfrm>
            <a:off x="7452360" y="2148840"/>
            <a:ext cx="4251960" cy="5486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Filter  </a:t>
            </a:r>
            <a:pPr indent="0" marL="0">
              <a:buNone/>
            </a:pPr>
            <a:r>
              <a:rPr lang="en-US" sz="1200" dirty="0">
                <a:solidFill>
                  <a:srgbClr val="C9D6E3"/>
                </a:solidFill>
                <a:latin typeface="Calibri" pitchFamily="34" charset="0"/>
                <a:ea typeface="Calibri" pitchFamily="34" charset="-122"/>
                <a:cs typeface="Calibri" pitchFamily="34" charset="-120"/>
              </a:rPr>
              <a:t>the metric's log filter (= your index/query)</a:t>
            </a:r>
            <a:endParaRPr lang="en-US" sz="1200" dirty="0"/>
          </a:p>
        </p:txBody>
      </p:sp>
      <p:sp>
        <p:nvSpPr>
          <p:cNvPr id="16" name="Shape 13"/>
          <p:cNvSpPr/>
          <p:nvPr/>
        </p:nvSpPr>
        <p:spPr>
          <a:xfrm>
            <a:off x="6858000" y="2798064"/>
            <a:ext cx="457200" cy="457200"/>
          </a:xfrm>
          <a:prstGeom prst="ellipse">
            <a:avLst/>
          </a:prstGeom>
          <a:solidFill>
            <a:srgbClr val="1C7293"/>
          </a:solidFill>
          <a:ln/>
        </p:spPr>
      </p:sp>
      <p:pic>
        <p:nvPicPr>
          <p:cNvPr id="17" name="Image 1" descr="preencoded.png">    </p:cNvPr>
          <p:cNvPicPr>
            <a:picLocks noChangeAspect="1"/>
          </p:cNvPicPr>
          <p:nvPr/>
        </p:nvPicPr>
        <p:blipFill>
          <a:blip r:embed="rId2"/>
          <a:stretch>
            <a:fillRect/>
          </a:stretch>
        </p:blipFill>
        <p:spPr>
          <a:xfrm>
            <a:off x="6967728" y="2907792"/>
            <a:ext cx="237744" cy="237744"/>
          </a:xfrm>
          <a:prstGeom prst="rect">
            <a:avLst/>
          </a:prstGeom>
        </p:spPr>
      </p:pic>
      <p:sp>
        <p:nvSpPr>
          <p:cNvPr id="18" name="Text 14"/>
          <p:cNvSpPr/>
          <p:nvPr/>
        </p:nvSpPr>
        <p:spPr>
          <a:xfrm>
            <a:off x="7452360" y="2752344"/>
            <a:ext cx="4251960" cy="5486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Aggregate  </a:t>
            </a:r>
            <a:pPr indent="0" marL="0">
              <a:buNone/>
            </a:pPr>
            <a:r>
              <a:rPr lang="en-US" sz="1200" dirty="0">
                <a:solidFill>
                  <a:srgbClr val="C9D6E3"/>
                </a:solidFill>
                <a:latin typeface="Calibri" pitchFamily="34" charset="0"/>
                <a:ea typeface="Calibri" pitchFamily="34" charset="-122"/>
                <a:cs typeface="Calibri" pitchFamily="34" charset="-120"/>
              </a:rPr>
              <a:t>counter for total/errors, distribution for response time</a:t>
            </a:r>
            <a:endParaRPr lang="en-US" sz="1200" dirty="0"/>
          </a:p>
        </p:txBody>
      </p:sp>
      <p:sp>
        <p:nvSpPr>
          <p:cNvPr id="19" name="Shape 15"/>
          <p:cNvSpPr/>
          <p:nvPr/>
        </p:nvSpPr>
        <p:spPr>
          <a:xfrm>
            <a:off x="6858000" y="3401568"/>
            <a:ext cx="457200" cy="457200"/>
          </a:xfrm>
          <a:prstGeom prst="ellipse">
            <a:avLst/>
          </a:prstGeom>
          <a:solidFill>
            <a:srgbClr val="1C7293"/>
          </a:solidFill>
          <a:ln/>
        </p:spPr>
      </p:sp>
      <p:pic>
        <p:nvPicPr>
          <p:cNvPr id="20" name="Image 2" descr="preencoded.png">    </p:cNvPr>
          <p:cNvPicPr>
            <a:picLocks noChangeAspect="1"/>
          </p:cNvPicPr>
          <p:nvPr/>
        </p:nvPicPr>
        <p:blipFill>
          <a:blip r:embed="rId3"/>
          <a:stretch>
            <a:fillRect/>
          </a:stretch>
        </p:blipFill>
        <p:spPr>
          <a:xfrm>
            <a:off x="6967728" y="3511296"/>
            <a:ext cx="237744" cy="237744"/>
          </a:xfrm>
          <a:prstGeom prst="rect">
            <a:avLst/>
          </a:prstGeom>
        </p:spPr>
      </p:pic>
      <p:sp>
        <p:nvSpPr>
          <p:cNvPr id="21" name="Text 16"/>
          <p:cNvSpPr/>
          <p:nvPr/>
        </p:nvSpPr>
        <p:spPr>
          <a:xfrm>
            <a:off x="7452360" y="3355848"/>
            <a:ext cx="4251960" cy="5486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Labels  </a:t>
            </a:r>
            <a:pPr indent="0" marL="0">
              <a:buNone/>
            </a:pPr>
            <a:r>
              <a:rPr lang="en-US" sz="1200" dirty="0">
                <a:solidFill>
                  <a:srgbClr val="C9D6E3"/>
                </a:solidFill>
                <a:latin typeface="Calibri" pitchFamily="34" charset="0"/>
                <a:ea typeface="Calibri" pitchFamily="34" charset="-122"/>
                <a:cs typeface="Calibri" pitchFamily="34" charset="-120"/>
              </a:rPr>
              <a:t>datacenter + BT name (= your table columns)</a:t>
            </a:r>
            <a:endParaRPr lang="en-US" sz="1200" dirty="0"/>
          </a:p>
        </p:txBody>
      </p:sp>
      <p:sp>
        <p:nvSpPr>
          <p:cNvPr id="22" name="Text 17"/>
          <p:cNvSpPr/>
          <p:nvPr/>
        </p:nvSpPr>
        <p:spPr>
          <a:xfrm>
            <a:off x="6812280" y="4005072"/>
            <a:ext cx="4937760" cy="274320"/>
          </a:xfrm>
          <a:prstGeom prst="rect">
            <a:avLst/>
          </a:prstGeom>
          <a:noFill/>
          <a:ln/>
        </p:spPr>
        <p:txBody>
          <a:bodyPr wrap="square" lIns="0" tIns="0" rIns="0" bIns="0" rtlCol="0" anchor="ctr"/>
          <a:lstStyle/>
          <a:p>
            <a:pPr indent="0" marL="0">
              <a:buNone/>
            </a:pPr>
            <a:r>
              <a:rPr lang="en-US" sz="1150" i="1" dirty="0">
                <a:solidFill>
                  <a:srgbClr val="ABC4D6"/>
                </a:solidFill>
                <a:latin typeface="Calibri" pitchFamily="34" charset="0"/>
                <a:ea typeface="Calibri" pitchFamily="34" charset="-122"/>
                <a:cs typeface="Calibri" pitchFamily="34" charset="-120"/>
              </a:rPr>
              <a:t>→ we read these as time series &amp; build the same Mongo doc</a:t>
            </a:r>
            <a:endParaRPr lang="en-US" sz="1150" dirty="0"/>
          </a:p>
        </p:txBody>
      </p:sp>
      <p:sp>
        <p:nvSpPr>
          <p:cNvPr id="23" name="Shape 18"/>
          <p:cNvSpPr/>
          <p:nvPr/>
        </p:nvSpPr>
        <p:spPr>
          <a:xfrm>
            <a:off x="548640" y="4617720"/>
            <a:ext cx="11292840" cy="1417320"/>
          </a:xfrm>
          <a:prstGeom prst="roundRect">
            <a:avLst>
              <a:gd name="adj" fmla="val 5161"/>
            </a:avLst>
          </a:prstGeom>
          <a:solidFill>
            <a:srgbClr val="FFFFFF"/>
          </a:solidFill>
          <a:ln/>
          <a:effectLst>
            <a:outerShdw sx="100000" sy="100000" kx="0" ky="0" algn="bl" rotWithShape="0" blurRad="88900" dist="25400" dir="2700000">
              <a:srgbClr val="000000">
                <a:alpha val="12000"/>
              </a:srgbClr>
            </a:outerShdw>
          </a:effectLst>
        </p:spPr>
      </p:sp>
      <p:sp>
        <p:nvSpPr>
          <p:cNvPr id="24" name="Text 19"/>
          <p:cNvSpPr/>
          <p:nvPr/>
        </p:nvSpPr>
        <p:spPr>
          <a:xfrm>
            <a:off x="822960" y="4754880"/>
            <a:ext cx="7315200" cy="320040"/>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Two things this depends on</a:t>
            </a:r>
            <a:endParaRPr lang="en-US" sz="1400" dirty="0"/>
          </a:p>
        </p:txBody>
      </p:sp>
      <p:sp>
        <p:nvSpPr>
          <p:cNvPr id="25" name="Text 20"/>
          <p:cNvSpPr/>
          <p:nvPr/>
        </p:nvSpPr>
        <p:spPr>
          <a:xfrm>
            <a:off x="822960" y="5074920"/>
            <a:ext cx="10698480" cy="868680"/>
          </a:xfrm>
          <a:prstGeom prst="rect">
            <a:avLst/>
          </a:prstGeom>
          <a:noFill/>
          <a:ln/>
        </p:spPr>
        <p:txBody>
          <a:bodyPr wrap="square" lIns="0" tIns="0" rIns="0" bIns="0" rtlCol="0" anchor="ctr"/>
          <a:lstStyle/>
          <a:p>
            <a:pPr indent="0" marL="0">
              <a:lnSpc>
                <a:spcPct val="105000"/>
              </a:lnSpc>
              <a:buNone/>
            </a:pPr>
            <a:r>
              <a:rPr lang="en-US" sz="1200" b="1" dirty="0">
                <a:solidFill>
                  <a:srgbClr val="C77D2E"/>
                </a:solidFill>
                <a:latin typeface="Calibri" pitchFamily="34" charset="0"/>
                <a:ea typeface="Calibri" pitchFamily="34" charset="-122"/>
                <a:cs typeface="Calibri" pitchFamily="34" charset="-120"/>
              </a:rPr>
              <a:t>Structured fields:  </a:t>
            </a:r>
            <a:pPr indent="0" marL="0">
              <a:lnSpc>
                <a:spcPct val="105000"/>
              </a:lnSpc>
              <a:buNone/>
            </a:pPr>
            <a:r>
              <a:rPr lang="en-US" sz="1200" dirty="0">
                <a:solidFill>
                  <a:srgbClr val="33414F"/>
                </a:solidFill>
                <a:latin typeface="Calibri" pitchFamily="34" charset="0"/>
                <a:ea typeface="Calibri" pitchFamily="34" charset="-122"/>
                <a:cs typeface="Calibri" pitchFamily="34" charset="-120"/>
              </a:rPr>
              <a:t>response time / status must be real JSON fields (jsonPayload), not buried in a text line — a distribution metric can only read a numeric field.</a:t>
            </a:r>
            <a:endParaRPr lang="en-US" sz="1200" dirty="0"/>
          </a:p>
          <a:p>
            <a:pPr indent="0" marL="0">
              <a:lnSpc>
                <a:spcPct val="105000"/>
              </a:lnSpc>
              <a:buNone/>
            </a:pPr>
            <a:r>
              <a:rPr lang="en-US" sz="1200" b="1" dirty="0">
                <a:solidFill>
                  <a:srgbClr val="C77D2E"/>
                </a:solidFill>
                <a:latin typeface="Calibri" pitchFamily="34" charset="0"/>
                <a:ea typeface="Calibri" pitchFamily="34" charset="-122"/>
                <a:cs typeface="Calibri" pitchFamily="34" charset="-120"/>
              </a:rPr>
              <a:t>Cardinality:  </a:t>
            </a:r>
            <a:pPr indent="0" marL="0">
              <a:lnSpc>
                <a:spcPct val="105000"/>
              </a:lnSpc>
              <a:buNone/>
            </a:pPr>
            <a:r>
              <a:rPr lang="en-US" sz="1200" dirty="0">
                <a:solidFill>
                  <a:srgbClr val="33414F"/>
                </a:solidFill>
                <a:latin typeface="Calibri" pitchFamily="34" charset="0"/>
                <a:ea typeface="Calibri" pitchFamily="34" charset="-122"/>
                <a:cs typeface="Calibri" pitchFamily="34" charset="-120"/>
              </a:rPr>
              <a:t>datacenter × BT name = number of time series; same 1M free-tier math as our infra metrics, so we keep label combinations sensible.</a:t>
            </a:r>
            <a:endParaRPr lang="en-US" sz="1200" dirty="0"/>
          </a:p>
        </p:txBody>
      </p:sp>
      <p:sp>
        <p:nvSpPr>
          <p:cNvPr id="26" name="Text 21"/>
          <p:cNvSpPr/>
          <p:nvPr/>
        </p:nvSpPr>
        <p:spPr>
          <a:xfrm>
            <a:off x="548640" y="6172200"/>
            <a:ext cx="11292840" cy="320040"/>
          </a:xfrm>
          <a:prstGeom prst="rect">
            <a:avLst/>
          </a:prstGeom>
          <a:noFill/>
          <a:ln/>
        </p:spPr>
        <p:txBody>
          <a:bodyPr wrap="square" lIns="0" tIns="0" rIns="0" bIns="0" rtlCol="0" anchor="ctr"/>
          <a:lstStyle/>
          <a:p>
            <a:pPr algn="ctr" indent="0" marL="0">
              <a:buNone/>
            </a:pPr>
            <a:r>
              <a:rPr lang="en-US" sz="1100" i="1" dirty="0">
                <a:solidFill>
                  <a:srgbClr val="5B6B7B"/>
                </a:solidFill>
                <a:latin typeface="Calibri" pitchFamily="34" charset="0"/>
                <a:ea typeface="Calibri" pitchFamily="34" charset="-122"/>
                <a:cs typeface="Calibri" pitchFamily="34" charset="-120"/>
              </a:rPr>
              <a:t>Failure % and any custom availability logic we keep in Python; native metrics handle the straightforward counts.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548640" y="457200"/>
            <a:ext cx="96012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What we need from the platform team</a:t>
            </a:r>
            <a:endParaRPr lang="en-US" sz="2600" dirty="0"/>
          </a:p>
        </p:txBody>
      </p:sp>
      <p:sp>
        <p:nvSpPr>
          <p:cNvPr id="3" name="Text 1"/>
          <p:cNvSpPr/>
          <p:nvPr/>
        </p:nvSpPr>
        <p:spPr>
          <a:xfrm>
            <a:off x="548640" y="987552"/>
            <a:ext cx="8229600" cy="365760"/>
          </a:xfrm>
          <a:prstGeom prst="rect">
            <a:avLst/>
          </a:prstGeom>
          <a:noFill/>
          <a:ln/>
        </p:spPr>
        <p:txBody>
          <a:bodyPr wrap="square" lIns="0" tIns="0" rIns="0" bIns="0" rtlCol="0" anchor="ctr"/>
          <a:lstStyle/>
          <a:p>
            <a:pPr indent="0" marL="0">
              <a:buNone/>
            </a:pPr>
            <a:r>
              <a:rPr lang="en-US" sz="1500" i="1" dirty="0">
                <a:solidFill>
                  <a:srgbClr val="ABC4D6"/>
                </a:solidFill>
                <a:latin typeface="Calibri" pitchFamily="34" charset="0"/>
                <a:ea typeface="Calibri" pitchFamily="34" charset="-122"/>
                <a:cs typeface="Calibri" pitchFamily="34" charset="-120"/>
              </a:rPr>
              <a:t>To stand up collection, in priority order</a:t>
            </a:r>
            <a:endParaRPr lang="en-US" sz="1500" dirty="0"/>
          </a:p>
        </p:txBody>
      </p:sp>
      <p:sp>
        <p:nvSpPr>
          <p:cNvPr id="4" name="Shape 2"/>
          <p:cNvSpPr/>
          <p:nvPr/>
        </p:nvSpPr>
        <p:spPr>
          <a:xfrm>
            <a:off x="10972800" y="457200"/>
            <a:ext cx="868680" cy="411480"/>
          </a:xfrm>
          <a:prstGeom prst="roundRect">
            <a:avLst>
              <a:gd name="adj" fmla="val 17778"/>
            </a:avLst>
          </a:prstGeom>
          <a:solidFill>
            <a:srgbClr val="1C7293"/>
          </a:solidFill>
          <a:ln/>
        </p:spPr>
      </p:sp>
      <p:sp>
        <p:nvSpPr>
          <p:cNvPr id="5" name="Text 3"/>
          <p:cNvSpPr/>
          <p:nvPr/>
        </p:nvSpPr>
        <p:spPr>
          <a:xfrm>
            <a:off x="10972800" y="457200"/>
            <a:ext cx="8686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 / 3</a:t>
            </a:r>
            <a:endParaRPr lang="en-US" sz="1300" dirty="0"/>
          </a:p>
        </p:txBody>
      </p:sp>
      <p:sp>
        <p:nvSpPr>
          <p:cNvPr id="6" name="Shape 4"/>
          <p:cNvSpPr/>
          <p:nvPr/>
        </p:nvSpPr>
        <p:spPr>
          <a:xfrm>
            <a:off x="548640" y="1600200"/>
            <a:ext cx="5440680" cy="2148840"/>
          </a:xfrm>
          <a:prstGeom prst="roundRect">
            <a:avLst>
              <a:gd name="adj" fmla="val 2979"/>
            </a:avLst>
          </a:prstGeom>
          <a:solidFill>
            <a:srgbClr val="FFFFFF"/>
          </a:solidFill>
          <a:ln/>
          <a:effectLst>
            <a:outerShdw sx="100000" sy="100000" kx="0" ky="0" algn="bl" rotWithShape="0" blurRad="101600" dist="38100" dir="5400000">
              <a:srgbClr val="000000">
                <a:alpha val="22000"/>
              </a:srgbClr>
            </a:outerShdw>
          </a:effectLst>
        </p:spPr>
      </p:sp>
      <p:sp>
        <p:nvSpPr>
          <p:cNvPr id="7" name="Shape 5"/>
          <p:cNvSpPr/>
          <p:nvPr/>
        </p:nvSpPr>
        <p:spPr>
          <a:xfrm>
            <a:off x="822960" y="1874520"/>
            <a:ext cx="640080" cy="640080"/>
          </a:xfrm>
          <a:prstGeom prst="ellipse">
            <a:avLst/>
          </a:prstGeom>
          <a:solidFill>
            <a:srgbClr val="F4F7FA"/>
          </a:solidFill>
          <a:ln/>
        </p:spPr>
      </p:sp>
      <p:sp>
        <p:nvSpPr>
          <p:cNvPr id="8" name="Text 6"/>
          <p:cNvSpPr/>
          <p:nvPr/>
        </p:nvSpPr>
        <p:spPr>
          <a:xfrm>
            <a:off x="822960" y="1874520"/>
            <a:ext cx="640080" cy="640080"/>
          </a:xfrm>
          <a:prstGeom prst="rect">
            <a:avLst/>
          </a:prstGeom>
          <a:noFill/>
          <a:ln/>
        </p:spPr>
        <p:txBody>
          <a:bodyPr wrap="square" lIns="0" tIns="0" rIns="0" bIns="0" rtlCol="0" anchor="ctr"/>
          <a:lstStyle/>
          <a:p>
            <a:pPr algn="ctr" indent="0" marL="0">
              <a:buNone/>
            </a:pPr>
            <a:r>
              <a:rPr lang="en-US" sz="2200" b="1" dirty="0">
                <a:solidFill>
                  <a:srgbClr val="1C7293"/>
                </a:solidFill>
                <a:latin typeface="Calibri" pitchFamily="34" charset="0"/>
                <a:ea typeface="Calibri" pitchFamily="34" charset="-122"/>
                <a:cs typeface="Calibri" pitchFamily="34" charset="-120"/>
              </a:rPr>
              <a:t>1</a:t>
            </a:r>
            <a:endParaRPr lang="en-US" sz="2200" dirty="0"/>
          </a:p>
        </p:txBody>
      </p:sp>
      <p:pic>
        <p:nvPicPr>
          <p:cNvPr id="9" name="Image 0" descr="preencoded.png">    </p:cNvPr>
          <p:cNvPicPr>
            <a:picLocks noChangeAspect="1"/>
          </p:cNvPicPr>
          <p:nvPr/>
        </p:nvPicPr>
        <p:blipFill>
          <a:blip r:embed="rId1"/>
          <a:stretch>
            <a:fillRect/>
          </a:stretch>
        </p:blipFill>
        <p:spPr>
          <a:xfrm>
            <a:off x="5212080" y="1892808"/>
            <a:ext cx="457200" cy="457200"/>
          </a:xfrm>
          <a:prstGeom prst="rect">
            <a:avLst/>
          </a:prstGeom>
        </p:spPr>
      </p:pic>
      <p:sp>
        <p:nvSpPr>
          <p:cNvPr id="10" name="Text 7"/>
          <p:cNvSpPr/>
          <p:nvPr/>
        </p:nvSpPr>
        <p:spPr>
          <a:xfrm>
            <a:off x="1645920" y="1911096"/>
            <a:ext cx="3520440" cy="548640"/>
          </a:xfrm>
          <a:prstGeom prst="rect">
            <a:avLst/>
          </a:prstGeom>
          <a:noFill/>
          <a:ln/>
        </p:spPr>
        <p:txBody>
          <a:bodyPr wrap="square" lIns="0" tIns="0" rIns="0" bIns="0" rtlCol="0" anchor="ctr"/>
          <a:lstStyle/>
          <a:p>
            <a:pPr indent="0" marL="0">
              <a:buNone/>
            </a:pPr>
            <a:r>
              <a:rPr lang="en-US" sz="1650" b="1" dirty="0">
                <a:solidFill>
                  <a:srgbClr val="21295C"/>
                </a:solidFill>
                <a:latin typeface="Calibri" pitchFamily="34" charset="0"/>
                <a:ea typeface="Calibri" pitchFamily="34" charset="-122"/>
                <a:cs typeface="Calibri" pitchFamily="34" charset="-120"/>
              </a:rPr>
              <a:t>Access &amp; identity</a:t>
            </a:r>
            <a:endParaRPr lang="en-US" sz="1650" dirty="0"/>
          </a:p>
        </p:txBody>
      </p:sp>
      <p:sp>
        <p:nvSpPr>
          <p:cNvPr id="11" name="Text 8"/>
          <p:cNvSpPr/>
          <p:nvPr/>
        </p:nvSpPr>
        <p:spPr>
          <a:xfrm>
            <a:off x="841248" y="2624328"/>
            <a:ext cx="4855464" cy="960120"/>
          </a:xfrm>
          <a:prstGeom prst="rect">
            <a:avLst/>
          </a:prstGeom>
          <a:noFill/>
          <a:ln/>
        </p:spPr>
        <p:txBody>
          <a:bodyPr wrap="square" lIns="0" tIns="0" rIns="0" bIns="0" rtlCol="0" anchor="ctr"/>
          <a:lstStyle/>
          <a:p>
            <a:pPr indent="0" marL="0">
              <a:lnSpc>
                <a:spcPct val="105000"/>
              </a:lnSpc>
              <a:buNone/>
            </a:pPr>
            <a:r>
              <a:rPr lang="en-US" sz="1200" dirty="0">
                <a:solidFill>
                  <a:srgbClr val="33414F"/>
                </a:solidFill>
                <a:latin typeface="Calibri" pitchFamily="34" charset="0"/>
                <a:ea typeface="Calibri" pitchFamily="34" charset="-122"/>
                <a:cs typeface="Calibri" pitchFamily="34" charset="-120"/>
              </a:rPr>
              <a:t>A service account per job with read-only roles (monitoring.viewer, logging.viewer) on the projects holding our data. Keyless via Workload Identity Federation if possible.</a:t>
            </a:r>
            <a:endParaRPr lang="en-US" sz="1200" dirty="0"/>
          </a:p>
        </p:txBody>
      </p:sp>
      <p:sp>
        <p:nvSpPr>
          <p:cNvPr id="12" name="Shape 9"/>
          <p:cNvSpPr/>
          <p:nvPr/>
        </p:nvSpPr>
        <p:spPr>
          <a:xfrm>
            <a:off x="6172200" y="1600200"/>
            <a:ext cx="5440680" cy="2148840"/>
          </a:xfrm>
          <a:prstGeom prst="roundRect">
            <a:avLst>
              <a:gd name="adj" fmla="val 2979"/>
            </a:avLst>
          </a:prstGeom>
          <a:solidFill>
            <a:srgbClr val="FFFFFF"/>
          </a:solidFill>
          <a:ln/>
          <a:effectLst>
            <a:outerShdw sx="100000" sy="100000" kx="0" ky="0" algn="bl" rotWithShape="0" blurRad="101600" dist="38100" dir="5400000">
              <a:srgbClr val="000000">
                <a:alpha val="22000"/>
              </a:srgbClr>
            </a:outerShdw>
          </a:effectLst>
        </p:spPr>
      </p:sp>
      <p:sp>
        <p:nvSpPr>
          <p:cNvPr id="13" name="Shape 10"/>
          <p:cNvSpPr/>
          <p:nvPr/>
        </p:nvSpPr>
        <p:spPr>
          <a:xfrm>
            <a:off x="6446520" y="1874520"/>
            <a:ext cx="640080" cy="640080"/>
          </a:xfrm>
          <a:prstGeom prst="ellipse">
            <a:avLst/>
          </a:prstGeom>
          <a:solidFill>
            <a:srgbClr val="F4F7FA"/>
          </a:solidFill>
          <a:ln/>
        </p:spPr>
      </p:sp>
      <p:sp>
        <p:nvSpPr>
          <p:cNvPr id="14" name="Text 11"/>
          <p:cNvSpPr/>
          <p:nvPr/>
        </p:nvSpPr>
        <p:spPr>
          <a:xfrm>
            <a:off x="6446520" y="1874520"/>
            <a:ext cx="640080" cy="640080"/>
          </a:xfrm>
          <a:prstGeom prst="rect">
            <a:avLst/>
          </a:prstGeom>
          <a:noFill/>
          <a:ln/>
        </p:spPr>
        <p:txBody>
          <a:bodyPr wrap="square" lIns="0" tIns="0" rIns="0" bIns="0" rtlCol="0" anchor="ctr"/>
          <a:lstStyle/>
          <a:p>
            <a:pPr algn="ctr" indent="0" marL="0">
              <a:buNone/>
            </a:pPr>
            <a:r>
              <a:rPr lang="en-US" sz="2200" b="1" dirty="0">
                <a:solidFill>
                  <a:srgbClr val="1C7293"/>
                </a:solidFill>
                <a:latin typeface="Calibri" pitchFamily="34" charset="0"/>
                <a:ea typeface="Calibri" pitchFamily="34" charset="-122"/>
                <a:cs typeface="Calibri" pitchFamily="34" charset="-120"/>
              </a:rPr>
              <a:t>2</a:t>
            </a:r>
            <a:endParaRPr lang="en-US" sz="2200" dirty="0"/>
          </a:p>
        </p:txBody>
      </p:sp>
      <p:pic>
        <p:nvPicPr>
          <p:cNvPr id="15" name="Image 1" descr="preencoded.png">    </p:cNvPr>
          <p:cNvPicPr>
            <a:picLocks noChangeAspect="1"/>
          </p:cNvPicPr>
          <p:nvPr/>
        </p:nvPicPr>
        <p:blipFill>
          <a:blip r:embed="rId2"/>
          <a:stretch>
            <a:fillRect/>
          </a:stretch>
        </p:blipFill>
        <p:spPr>
          <a:xfrm>
            <a:off x="10835640" y="1892808"/>
            <a:ext cx="457200" cy="457200"/>
          </a:xfrm>
          <a:prstGeom prst="rect">
            <a:avLst/>
          </a:prstGeom>
        </p:spPr>
      </p:pic>
      <p:sp>
        <p:nvSpPr>
          <p:cNvPr id="16" name="Text 12"/>
          <p:cNvSpPr/>
          <p:nvPr/>
        </p:nvSpPr>
        <p:spPr>
          <a:xfrm>
            <a:off x="7269480" y="1911096"/>
            <a:ext cx="3520440" cy="548640"/>
          </a:xfrm>
          <a:prstGeom prst="rect">
            <a:avLst/>
          </a:prstGeom>
          <a:noFill/>
          <a:ln/>
        </p:spPr>
        <p:txBody>
          <a:bodyPr wrap="square" lIns="0" tIns="0" rIns="0" bIns="0" rtlCol="0" anchor="ctr"/>
          <a:lstStyle/>
          <a:p>
            <a:pPr indent="0" marL="0">
              <a:buNone/>
            </a:pPr>
            <a:r>
              <a:rPr lang="en-US" sz="1650" b="1" dirty="0">
                <a:solidFill>
                  <a:srgbClr val="21295C"/>
                </a:solidFill>
                <a:latin typeface="Calibri" pitchFamily="34" charset="0"/>
                <a:ea typeface="Calibri" pitchFamily="34" charset="-122"/>
                <a:cs typeface="Calibri" pitchFamily="34" charset="-120"/>
              </a:rPr>
              <a:t>Define our log-based metrics</a:t>
            </a:r>
            <a:endParaRPr lang="en-US" sz="1650" dirty="0"/>
          </a:p>
        </p:txBody>
      </p:sp>
      <p:sp>
        <p:nvSpPr>
          <p:cNvPr id="17" name="Text 13"/>
          <p:cNvSpPr/>
          <p:nvPr/>
        </p:nvSpPr>
        <p:spPr>
          <a:xfrm>
            <a:off x="6464808" y="2624328"/>
            <a:ext cx="4855464" cy="960120"/>
          </a:xfrm>
          <a:prstGeom prst="rect">
            <a:avLst/>
          </a:prstGeom>
          <a:noFill/>
          <a:ln/>
        </p:spPr>
        <p:txBody>
          <a:bodyPr wrap="square" lIns="0" tIns="0" rIns="0" bIns="0" rtlCol="0" anchor="ctr"/>
          <a:lstStyle/>
          <a:p>
            <a:pPr indent="0" marL="0">
              <a:lnSpc>
                <a:spcPct val="105000"/>
              </a:lnSpc>
              <a:buNone/>
            </a:pPr>
            <a:r>
              <a:rPr lang="en-US" sz="1200" dirty="0">
                <a:solidFill>
                  <a:srgbClr val="33414F"/>
                </a:solidFill>
                <a:latin typeface="Calibri" pitchFamily="34" charset="0"/>
                <a:ea typeface="Calibri" pitchFamily="34" charset="-122"/>
                <a:cs typeface="Calibri" pitchFamily="34" charset="-120"/>
              </a:rPr>
              <a:t>Counter metrics for total / errors / availability, distribution on response-time, labelled by datacenter + BT name. Who owns creating these metric definitions?</a:t>
            </a:r>
            <a:endParaRPr lang="en-US" sz="1200" dirty="0"/>
          </a:p>
        </p:txBody>
      </p:sp>
      <p:sp>
        <p:nvSpPr>
          <p:cNvPr id="18" name="Shape 14"/>
          <p:cNvSpPr/>
          <p:nvPr/>
        </p:nvSpPr>
        <p:spPr>
          <a:xfrm>
            <a:off x="548640" y="3977640"/>
            <a:ext cx="5440680" cy="2148840"/>
          </a:xfrm>
          <a:prstGeom prst="roundRect">
            <a:avLst>
              <a:gd name="adj" fmla="val 2979"/>
            </a:avLst>
          </a:prstGeom>
          <a:solidFill>
            <a:srgbClr val="FFFFFF"/>
          </a:solidFill>
          <a:ln/>
          <a:effectLst>
            <a:outerShdw sx="100000" sy="100000" kx="0" ky="0" algn="bl" rotWithShape="0" blurRad="101600" dist="38100" dir="5400000">
              <a:srgbClr val="000000">
                <a:alpha val="22000"/>
              </a:srgbClr>
            </a:outerShdw>
          </a:effectLst>
        </p:spPr>
      </p:sp>
      <p:sp>
        <p:nvSpPr>
          <p:cNvPr id="19" name="Shape 15"/>
          <p:cNvSpPr/>
          <p:nvPr/>
        </p:nvSpPr>
        <p:spPr>
          <a:xfrm>
            <a:off x="822960" y="4251960"/>
            <a:ext cx="640080" cy="640080"/>
          </a:xfrm>
          <a:prstGeom prst="ellipse">
            <a:avLst/>
          </a:prstGeom>
          <a:solidFill>
            <a:srgbClr val="F4F7FA"/>
          </a:solidFill>
          <a:ln/>
        </p:spPr>
      </p:sp>
      <p:sp>
        <p:nvSpPr>
          <p:cNvPr id="20" name="Text 16"/>
          <p:cNvSpPr/>
          <p:nvPr/>
        </p:nvSpPr>
        <p:spPr>
          <a:xfrm>
            <a:off x="822960" y="4251960"/>
            <a:ext cx="640080" cy="640080"/>
          </a:xfrm>
          <a:prstGeom prst="rect">
            <a:avLst/>
          </a:prstGeom>
          <a:noFill/>
          <a:ln/>
        </p:spPr>
        <p:txBody>
          <a:bodyPr wrap="square" lIns="0" tIns="0" rIns="0" bIns="0" rtlCol="0" anchor="ctr"/>
          <a:lstStyle/>
          <a:p>
            <a:pPr algn="ctr" indent="0" marL="0">
              <a:buNone/>
            </a:pPr>
            <a:r>
              <a:rPr lang="en-US" sz="2200" b="1" dirty="0">
                <a:solidFill>
                  <a:srgbClr val="1C7293"/>
                </a:solidFill>
                <a:latin typeface="Calibri" pitchFamily="34" charset="0"/>
                <a:ea typeface="Calibri" pitchFamily="34" charset="-122"/>
                <a:cs typeface="Calibri" pitchFamily="34" charset="-120"/>
              </a:rPr>
              <a:t>3</a:t>
            </a:r>
            <a:endParaRPr lang="en-US" sz="2200" dirty="0"/>
          </a:p>
        </p:txBody>
      </p:sp>
      <p:pic>
        <p:nvPicPr>
          <p:cNvPr id="21" name="Image 2" descr="preencoded.png">    </p:cNvPr>
          <p:cNvPicPr>
            <a:picLocks noChangeAspect="1"/>
          </p:cNvPicPr>
          <p:nvPr/>
        </p:nvPicPr>
        <p:blipFill>
          <a:blip r:embed="rId3"/>
          <a:stretch>
            <a:fillRect/>
          </a:stretch>
        </p:blipFill>
        <p:spPr>
          <a:xfrm>
            <a:off x="5212080" y="4270248"/>
            <a:ext cx="457200" cy="457200"/>
          </a:xfrm>
          <a:prstGeom prst="rect">
            <a:avLst/>
          </a:prstGeom>
        </p:spPr>
      </p:pic>
      <p:sp>
        <p:nvSpPr>
          <p:cNvPr id="22" name="Text 17"/>
          <p:cNvSpPr/>
          <p:nvPr/>
        </p:nvSpPr>
        <p:spPr>
          <a:xfrm>
            <a:off x="1645920" y="4288536"/>
            <a:ext cx="3520440" cy="548640"/>
          </a:xfrm>
          <a:prstGeom prst="rect">
            <a:avLst/>
          </a:prstGeom>
          <a:noFill/>
          <a:ln/>
        </p:spPr>
        <p:txBody>
          <a:bodyPr wrap="square" lIns="0" tIns="0" rIns="0" bIns="0" rtlCol="0" anchor="ctr"/>
          <a:lstStyle/>
          <a:p>
            <a:pPr indent="0" marL="0">
              <a:buNone/>
            </a:pPr>
            <a:r>
              <a:rPr lang="en-US" sz="1650" b="1" dirty="0">
                <a:solidFill>
                  <a:srgbClr val="21295C"/>
                </a:solidFill>
                <a:latin typeface="Calibri" pitchFamily="34" charset="0"/>
                <a:ea typeface="Calibri" pitchFamily="34" charset="-122"/>
                <a:cs typeface="Calibri" pitchFamily="34" charset="-120"/>
              </a:rPr>
              <a:t>Confirm the data &amp; budget</a:t>
            </a:r>
            <a:endParaRPr lang="en-US" sz="1650" dirty="0"/>
          </a:p>
        </p:txBody>
      </p:sp>
      <p:sp>
        <p:nvSpPr>
          <p:cNvPr id="23" name="Text 18"/>
          <p:cNvSpPr/>
          <p:nvPr/>
        </p:nvSpPr>
        <p:spPr>
          <a:xfrm>
            <a:off x="841248" y="5001768"/>
            <a:ext cx="4855464" cy="960120"/>
          </a:xfrm>
          <a:prstGeom prst="rect">
            <a:avLst/>
          </a:prstGeom>
          <a:noFill/>
          <a:ln/>
        </p:spPr>
        <p:txBody>
          <a:bodyPr wrap="square" lIns="0" tIns="0" rIns="0" bIns="0" rtlCol="0" anchor="ctr"/>
          <a:lstStyle/>
          <a:p>
            <a:pPr indent="0" marL="0">
              <a:lnSpc>
                <a:spcPct val="105000"/>
              </a:lnSpc>
              <a:buNone/>
            </a:pPr>
            <a:r>
              <a:rPr lang="en-US" sz="1200" dirty="0">
                <a:solidFill>
                  <a:srgbClr val="33414F"/>
                </a:solidFill>
                <a:latin typeface="Calibri" pitchFamily="34" charset="0"/>
                <a:ea typeface="Calibri" pitchFamily="34" charset="-122"/>
                <a:cs typeface="Calibri" pitchFamily="34" charset="-120"/>
              </a:rPr>
              <a:t>Are our BT fields (status, response time) structured as jsonPayload? And roughly how many datacenter × BT combinations — so we size against the 1M time-series free tier?</a:t>
            </a:r>
            <a:endParaRPr lang="en-US" sz="1200" dirty="0"/>
          </a:p>
        </p:txBody>
      </p:sp>
      <p:sp>
        <p:nvSpPr>
          <p:cNvPr id="24" name="Shape 19"/>
          <p:cNvSpPr/>
          <p:nvPr/>
        </p:nvSpPr>
        <p:spPr>
          <a:xfrm>
            <a:off x="6172200" y="3977640"/>
            <a:ext cx="5440680" cy="2148840"/>
          </a:xfrm>
          <a:prstGeom prst="roundRect">
            <a:avLst>
              <a:gd name="adj" fmla="val 2979"/>
            </a:avLst>
          </a:prstGeom>
          <a:solidFill>
            <a:srgbClr val="FFFFFF"/>
          </a:solidFill>
          <a:ln/>
          <a:effectLst>
            <a:outerShdw sx="100000" sy="100000" kx="0" ky="0" algn="bl" rotWithShape="0" blurRad="101600" dist="38100" dir="5400000">
              <a:srgbClr val="000000">
                <a:alpha val="22000"/>
              </a:srgbClr>
            </a:outerShdw>
          </a:effectLst>
        </p:spPr>
      </p:sp>
      <p:sp>
        <p:nvSpPr>
          <p:cNvPr id="25" name="Shape 20"/>
          <p:cNvSpPr/>
          <p:nvPr/>
        </p:nvSpPr>
        <p:spPr>
          <a:xfrm>
            <a:off x="6446520" y="4251960"/>
            <a:ext cx="640080" cy="640080"/>
          </a:xfrm>
          <a:prstGeom prst="ellipse">
            <a:avLst/>
          </a:prstGeom>
          <a:solidFill>
            <a:srgbClr val="F4F7FA"/>
          </a:solidFill>
          <a:ln/>
        </p:spPr>
      </p:sp>
      <p:sp>
        <p:nvSpPr>
          <p:cNvPr id="26" name="Text 21"/>
          <p:cNvSpPr/>
          <p:nvPr/>
        </p:nvSpPr>
        <p:spPr>
          <a:xfrm>
            <a:off x="6446520" y="4251960"/>
            <a:ext cx="640080" cy="640080"/>
          </a:xfrm>
          <a:prstGeom prst="rect">
            <a:avLst/>
          </a:prstGeom>
          <a:noFill/>
          <a:ln/>
        </p:spPr>
        <p:txBody>
          <a:bodyPr wrap="square" lIns="0" tIns="0" rIns="0" bIns="0" rtlCol="0" anchor="ctr"/>
          <a:lstStyle/>
          <a:p>
            <a:pPr algn="ctr" indent="0" marL="0">
              <a:buNone/>
            </a:pPr>
            <a:r>
              <a:rPr lang="en-US" sz="2200" b="1" dirty="0">
                <a:solidFill>
                  <a:srgbClr val="1C7293"/>
                </a:solidFill>
                <a:latin typeface="Calibri" pitchFamily="34" charset="0"/>
                <a:ea typeface="Calibri" pitchFamily="34" charset="-122"/>
                <a:cs typeface="Calibri" pitchFamily="34" charset="-120"/>
              </a:rPr>
              <a:t>4</a:t>
            </a:r>
            <a:endParaRPr lang="en-US" sz="2200" dirty="0"/>
          </a:p>
        </p:txBody>
      </p:sp>
      <p:pic>
        <p:nvPicPr>
          <p:cNvPr id="27" name="Image 3" descr="preencoded.png">    </p:cNvPr>
          <p:cNvPicPr>
            <a:picLocks noChangeAspect="1"/>
          </p:cNvPicPr>
          <p:nvPr/>
        </p:nvPicPr>
        <p:blipFill>
          <a:blip r:embed="rId4"/>
          <a:stretch>
            <a:fillRect/>
          </a:stretch>
        </p:blipFill>
        <p:spPr>
          <a:xfrm>
            <a:off x="10835640" y="4270248"/>
            <a:ext cx="457200" cy="457200"/>
          </a:xfrm>
          <a:prstGeom prst="rect">
            <a:avLst/>
          </a:prstGeom>
        </p:spPr>
      </p:pic>
      <p:sp>
        <p:nvSpPr>
          <p:cNvPr id="28" name="Text 22"/>
          <p:cNvSpPr/>
          <p:nvPr/>
        </p:nvSpPr>
        <p:spPr>
          <a:xfrm>
            <a:off x="7269480" y="4288536"/>
            <a:ext cx="3520440" cy="548640"/>
          </a:xfrm>
          <a:prstGeom prst="rect">
            <a:avLst/>
          </a:prstGeom>
          <a:noFill/>
          <a:ln/>
        </p:spPr>
        <p:txBody>
          <a:bodyPr wrap="square" lIns="0" tIns="0" rIns="0" bIns="0" rtlCol="0" anchor="ctr"/>
          <a:lstStyle/>
          <a:p>
            <a:pPr indent="0" marL="0">
              <a:buNone/>
            </a:pPr>
            <a:r>
              <a:rPr lang="en-US" sz="1650" b="1" dirty="0">
                <a:solidFill>
                  <a:srgbClr val="21295C"/>
                </a:solidFill>
                <a:latin typeface="Calibri" pitchFamily="34" charset="0"/>
                <a:ea typeface="Calibri" pitchFamily="34" charset="-122"/>
                <a:cs typeface="Calibri" pitchFamily="34" charset="-120"/>
              </a:rPr>
              <a:t>Network &amp; ownership</a:t>
            </a:r>
            <a:endParaRPr lang="en-US" sz="1650" dirty="0"/>
          </a:p>
        </p:txBody>
      </p:sp>
      <p:sp>
        <p:nvSpPr>
          <p:cNvPr id="29" name="Text 23"/>
          <p:cNvSpPr/>
          <p:nvPr/>
        </p:nvSpPr>
        <p:spPr>
          <a:xfrm>
            <a:off x="6464808" y="5001768"/>
            <a:ext cx="4855464" cy="960120"/>
          </a:xfrm>
          <a:prstGeom prst="rect">
            <a:avLst/>
          </a:prstGeom>
          <a:noFill/>
          <a:ln/>
        </p:spPr>
        <p:txBody>
          <a:bodyPr wrap="square" lIns="0" tIns="0" rIns="0" bIns="0" rtlCol="0" anchor="ctr"/>
          <a:lstStyle/>
          <a:p>
            <a:pPr indent="0" marL="0">
              <a:lnSpc>
                <a:spcPct val="105000"/>
              </a:lnSpc>
              <a:buNone/>
            </a:pPr>
            <a:r>
              <a:rPr lang="en-US" sz="1200" dirty="0">
                <a:solidFill>
                  <a:srgbClr val="33414F"/>
                </a:solidFill>
                <a:latin typeface="Calibri" pitchFamily="34" charset="0"/>
                <a:ea typeface="Calibri" pitchFamily="34" charset="-122"/>
                <a:cs typeface="Calibri" pitchFamily="34" charset="-120"/>
              </a:rPr>
              <a:t>Do our Linux hosts allow outbound gRPC/HTTP-2 to Google APIs, or are we REST-only? Who approves metric-definition and quota requests, and what's the SLA?</a:t>
            </a:r>
            <a:endParaRPr lang="en-US" sz="1200" dirty="0"/>
          </a:p>
        </p:txBody>
      </p:sp>
      <p:sp>
        <p:nvSpPr>
          <p:cNvPr id="30" name="Text 24"/>
          <p:cNvSpPr/>
          <p:nvPr/>
        </p:nvSpPr>
        <p:spPr>
          <a:xfrm>
            <a:off x="548640" y="6355080"/>
            <a:ext cx="11292840" cy="320040"/>
          </a:xfrm>
          <a:prstGeom prst="rect">
            <a:avLst/>
          </a:prstGeom>
          <a:noFill/>
          <a:ln/>
        </p:spPr>
        <p:txBody>
          <a:bodyPr wrap="square" lIns="0" tIns="0" rIns="0" bIns="0" rtlCol="0" anchor="ctr"/>
          <a:lstStyle/>
          <a:p>
            <a:pPr algn="ctr" indent="0" marL="0">
              <a:buNone/>
            </a:pPr>
            <a:r>
              <a:rPr lang="en-US" sz="1150" i="1" dirty="0">
                <a:solidFill>
                  <a:srgbClr val="ABC4D6"/>
                </a:solidFill>
                <a:latin typeface="Calibri" pitchFamily="34" charset="0"/>
                <a:ea typeface="Calibri" pitchFamily="34" charset="-122"/>
                <a:cs typeface="Calibri" pitchFamily="34" charset="-120"/>
              </a:rPr>
              <a:t>Full detail (sizing math, code, fallbacks) is in the prep document if anyone wants to go deeper.</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GCO Collection Plan</dc:title>
  <dc:subject>PptxGenJS Presentation</dc:subject>
  <dc:creator>Observability Team</dc:creator>
  <cp:lastModifiedBy>Observability Team</cp:lastModifiedBy>
  <cp:revision>1</cp:revision>
  <dcterms:created xsi:type="dcterms:W3CDTF">2026-06-23T01:25:30Z</dcterms:created>
  <dcterms:modified xsi:type="dcterms:W3CDTF">2026-06-23T01:25:30Z</dcterms:modified>
</cp:coreProperties>
</file>